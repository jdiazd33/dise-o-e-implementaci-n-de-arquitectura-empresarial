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empresa es ficticia, creada para fines académicos. Los volúmenes y tiempos son estimaciones razonables.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este avance se modelaron los dos procesos más relevantes: atención en el local y pedido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 actores identificados, externos e internos.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casos de uso del negocio: Realizar Pedido, Preparar Comida, Cobrar Pedido, Entregar a Domicilio y Abastecer Insumos.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Conceptos: Cliente, Pedido, DetallePedido, Plato, Mesa, Reserva, Empleado, Repartidor y Boleta, con sus relaciones y multiplicidades.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Proceso que va desde la recepción del cliente hasta el cobro y la liberación de la mesa.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Incluye validación de stock, pago en línea y asignación del repartidor.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Sistema central con 6 tipos de usuario y 2 sistemas externos: pasarela de pago y proveedores.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requerimientos funcionales especificados en la SRS del informe.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Restricciones adicionales: Ley 29733 de protección de datos, infraestructura en la nube y cumplimiento del cronograma.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Ubicamos al equipo en el nivel 2 (REQM) con prácticas iniciales del nivel 3 (RD).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 tres especificaciones completas se encuentran en el informe (Tablas 6, 7 y 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D98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Modelado de Requerimientos del Negocio de Fogón Andino S.A.C.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D8E4F0"/>
                </a:solidFill>
                <a:latin typeface="Calibri"/>
              </a:rPr>
              <a:t>Avance 1 | Curso: Diseño e Implementación de Arquitectura Empresarial
Universidad Tecnológica del Perú
Integrantes: [Estudiante 1], [Estudiante 2], [Estudiante 3], [Estudiante 4]
Docente: Ing. Jair Darnley Vásquez Aguirre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Presentación de la empresa y sus procesos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Modelado del negocio: actores, casos de uso y modelo de dominio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Diagramas de actividades de los procesos clave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Especificación de requerimientos de software (SRS)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Nivel de madurez CMMI del equipo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Conclusiones y próximos pasos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1. Presentación de la Empresa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Fogón Andino S.A.C.: restaurante de comida peruana en Miraflores, Lima.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Capacidad para 80 comensales en 20 mesas; ~350 clientes diarios entre local y delivery.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18 colaboradores: mozos, cocineros, cajeros, administrador y repartidores.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Situación actual: procesos manuales y desintegrados que generan demoras y errores de registro.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Decisión estratégica: transformación digital con un sistema de gestión de pedidos integrado.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2. Actividad Principal y Procesos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Actividad principal: preparación y comercialización de comida peruana, en local y a domicilio.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Proceso 1 – Atención de pedido en el local: recepción, toma de pedido, cocina, cobro.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Proceso 2 – Pedido en línea con delivery: tienda virtual, stock, pago, preparación y entrega.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Proceso 3 – Gestión de la carta e insumos: platos y abastecimiento de proveedores.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Proceso 4 – Reservas y cobros: reserva de mesas y emisión de comprobantes.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3. Actores del Negocio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Actor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Tipo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Rol principal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Externo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Consume en el local o pide delivery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Mozo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Atiende al comensal y toma el pedido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Chef / Cocinero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Interno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Prepara los platos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Cajero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Cobra y emite comprobantes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Repartidor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Externo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Entrega los pedidos a domicilio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Proveedor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Externo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Abastece de insumos a la cocina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Administrador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Interno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Gestiona carta y reportes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4. Casos de Uso del Negocio</a:t>
            </a:r>
          </a:p>
        </p:txBody>
      </p:sp>
      <p:pic>
        <p:nvPicPr>
          <p:cNvPr id="3" name="Picture 2" descr="fig1_casos_uso_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7096" y="914400"/>
            <a:ext cx="8617503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5. Modelo de Dominio</a:t>
            </a:r>
          </a:p>
        </p:txBody>
      </p:sp>
      <p:pic>
        <p:nvPicPr>
          <p:cNvPr id="3" name="Picture 2" descr="fig2_modelo_domin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053" y="914400"/>
            <a:ext cx="6371589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6. Actividades: Atención en el Local</a:t>
            </a:r>
          </a:p>
        </p:txBody>
      </p:sp>
      <p:pic>
        <p:nvPicPr>
          <p:cNvPr id="3" name="Picture 2" descr="fig3_actividades_lo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08" y="914400"/>
            <a:ext cx="4199878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7. Actividades: Pedido en Línea con Delivery</a:t>
            </a:r>
          </a:p>
        </p:txBody>
      </p:sp>
      <p:pic>
        <p:nvPicPr>
          <p:cNvPr id="3" name="Picture 2" descr="fig4_actividades_on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207" y="914400"/>
            <a:ext cx="4045281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8. Diagrama de Contexto del Sistema</a:t>
            </a:r>
          </a:p>
        </p:txBody>
      </p:sp>
      <p:pic>
        <p:nvPicPr>
          <p:cNvPr id="3" name="Picture 2" descr="fig5_diagrama_contex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489" y="914400"/>
            <a:ext cx="8536717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9. Requerimientos Funcionales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Nombre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RF-01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Gestionar la carta de platos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Registrar pedido en el local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RF-03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Registrar pedido en línea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Gestionar el estado del pedido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RF-05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Procesar pagos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Gestionar la entrega a domicilio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RF-07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Gestionar reservas de mesa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Emitir comprobantes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RF-09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Generar reportes de ventas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RF-10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Gestionar inventario y compras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10. Requerimientos No Funcionales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1440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Categoría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Descripción</a:t>
                      </a:r>
                    </a:p>
                  </a:txBody>
                  <a:tcPr>
                    <a:solidFill>
                      <a:srgbClr val="4A6FA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RNF-01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Rendimiento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Respuesta &lt; 3 segundos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RNF-02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Disponibilidad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99,5 % del tiempo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RNF-03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Seguridad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Autenticación y TLS 1.2+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RNF-04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Usabilidad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Pedido en &lt; 5 minutos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RNF-05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Escalabilidad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500 usuarios concurrentes</a:t>
                      </a:r>
                    </a:p>
                  </a:txBody>
                  <a:tcPr>
                    <a:solidFill>
                      <a:srgbClr val="ECF1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RNF-06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Compatibilidad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33333"/>
                          </a:solidFill>
                          <a:latin typeface="Calibri"/>
                        </a:rPr>
                        <a:t>Web y móvil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11. Nivel de Madurez CMMI del 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Nivel 2 – Gestión de Requerimientos (REQM): requerimientos documentados, clasificados y controlados.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Se mantiene la trazabilidad mediante una matriz que conecta necesidades, RF, casos de uso y componentes.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Procedimiento de control de cambios: todo cambio se registra, analiza y aprueba.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Prácticas iniciales del Nivel 3 (RD): obtención de requerimientos a partir de las necesidades de los stakeholders.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Objetivo: consolidar el nivel 3 en los siguientes avances.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12. Especificación de Casos de Uso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CU-01: Registrar pedido en el local (actor: Mozo).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CU-02: Realizar pedido en línea con delivery (actor: Cliente).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CU-03: Procesar pago y emitir comprobante (actor: Cajero).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Cada especificación incluye: ID, actor principal, descripción, precondiciones, flujo principal, flujos alternativos y postcondiciones.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Estos casos de uso dan trazabilidad a los RF-02, RF-03 y RF-05.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13. Conclusiones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Se modeló el negocio de Fogón Andino S.A.C.: 7 actores, 5 casos de uso del negocio y 9 conceptos en el modelo de dominio.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Se elaboraron 2 diagramas de actividades de los procesos más relevantes.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Se elaboró la SRS: diagrama de contexto, 10 RF y 6 RNF clasificados, y 3 especificaciones de casos de uso.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La trazabilidad establecida es insumo directo para la fase de arquitectura empresarial (TOGAF) de la Unidad 2.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33333"/>
                </a:solidFill>
                <a:latin typeface="Calibri"/>
              </a:rPr>
              <a:t>• Próximo paso: definir la arquitectura empresarial basada en TOGAF a partir de estos requerimientos.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
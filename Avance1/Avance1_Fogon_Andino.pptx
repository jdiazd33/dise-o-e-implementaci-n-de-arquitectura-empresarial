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Saludo y presentación del equipo. Indicar que el avance modela los requerimientos del negocio de Fogón Andino S.A.C. y que servirá de insumo para la arquitectura empresarial con TOGAF de la Unidad 2. Repartir los turnos de exposición antes de empezar.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Recorrido rápido de la agenda, 20 segundos. Señalar que los dos primeros puntos responden al criterio de gestión del proyecto, los tres siguientes al modelado del negocio, y los dos últimos al documento de requerimientos.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Presentar la empresa en 45 segundos. Enfatizar el problema: la información no está integrada. Mencionar que es una empresa ficticia, dato declarado en las limitaciones del informe. No entrar en cifras de facturación.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por qué se eligieron solo dos procesos: son los que la dirección priorizó para la transformación digital y los que alimentan el sistema de gestión de pedidos. Citar a Sommerville para justificar que los procesos de negocio son el punto de partida de los requerimientos.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Aclarar la distinción entre actor interno y externo: los externos están fuera de la frontera organizacional y reciben valor del proceso. Señalar que cada uno de los siete tiene al menos un caso de uso asociado, incluido el administrador, que es un error frecuente dejar suelto.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el diagrama: los seis casos de uso, quién los dispara y qué valor producen. Insistir en que es una vista organizacional, no de software: describe lo que hace el negocio, no las funcionalidades del sistema. El CU-N6 se añadió para que el administrador no quedara sin caso de uso.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el papel central de Pedido: es el concepto que conecta cliente, detalle, boleta, mesa, empleado y repartidor. Mencionar las cardinalidades clave: un cliente realiza 0..* pedidos; un pedido contiene 1..* detalles; todo pedido genera como máximo una boleta. Este modelo es la base para el diagrama de clases de la arquitectura de datos en la Unidad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que las columnas son particiones: muestran quién hace cada actividad, algo que el diagrama lineal no dejaba ver. Señalar la rama alternativa del nodo de decisión, que ahora regresa correctamente a la toma del pedido en lugar de quedar suelta.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Comparar con el diagrama anterior: aquí aparecen dos decisiones y una pasarela externa. Enfatizar que ambas ramas «No» están cerradas y tienen destino, que era el defecto del diagrama original. Mencionar que la pasarela de pago es un sistema externo, lo que enlaza con el diagrama de contexto de la siguiente sección.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Leer el diagrama como una vista de caja negra: el sistema completo es un solo proceso y solo se muestran los flujos que cruzan la frontera. Las flechas azules son entradas y las verdes salidas. Los dos sistemas externos son la pasarela de pago y los proveedores; el resto son usuarios. Este diagrama delimita el alcance del sistema.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leer los diez uno por uno; agrupar: los RF-01 a RF-04 cubren la operación de pedidos, RF-05 a RF-08 el cobro y la entrega, y RF-09 y RF-10 la gestión y el abastecimiento. Destacar que cada requerimiento está redactado con el formato «El sistema deberá permitir…» y es verificable.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la diferencia con los funcionales: aquí no se dice qué hace el sistema sino con qué calidad lo hace. Resaltar que todos son medibles, porque un requerimiento no verificable no sirve. Mencionar las tres restricciones del final.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la diferencia entre REQM y RD: REQM responde a «cómo gestionamos los requerimientos» y RD a «cómo obtenemos lo que necesita el sistema». El equipo está en nivel 2 y aplica prácticas iniciales del 3. La tabla muestra la trazabilidad, que es la evidencia concreta de la gestión.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Insistir en que «todas las partes» significa: identificador, nombre, actor principal, descripción, precondiciones, flujo principal, flujos alternativos y postcondiciones. Cada caso de uso se deriva de un requerimiento funcional: CU-01 de RF-02, CU-02 de RF-03 y CU-03 de RF-05. Si el docente pregunta por un caso de uso en concreto, abrir la tabla correspondiente del informe.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recapitulando los cuatro criterios de la rúbrica: empresa y procesos, modelado del negocio, documento de requerimientos y sustentación. Terminar con el puente hacia la Unidad 2: todo lo modelado aquí es el insumo de la fase de arquitectura empresarial con TOGAF.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el turno de preguntas. Tener a mano el informe completo para consultar tablas y figuras si el docente pide detalle. Recordar que todos los integrantes deben poder responder sobre cualquier sección.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0"/>
            <a:ext cx="12191695" cy="274320"/>
          </a:xfrm>
          <a:prstGeom prst="rect">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1234440"/>
            <a:ext cx="10515600" cy="320040"/>
          </a:xfrm>
          <a:prstGeom prst="rect">
            <a:avLst/>
          </a:prstGeom>
          <a:noFill/>
        </p:spPr>
        <p:txBody>
          <a:bodyPr wrap="square" anchor="t" lIns="0" rIns="0" tIns="0" bIns="0">
            <a:spAutoFit/>
          </a:bodyPr>
          <a:lstStyle/>
          <a:p>
            <a:pPr algn="l">
              <a:spcAft>
                <a:spcPts val="600"/>
              </a:spcAft>
            </a:pPr>
            <a:r>
              <a:rPr sz="1300" b="1" i="0">
                <a:solidFill>
                  <a:srgbClr val="9FB8E0"/>
                </a:solidFill>
                <a:latin typeface="Calibri"/>
              </a:rPr>
              <a:t>DISEÑO E IMPLEMENTACIÓN DE ARQUITECTURA EMPRESARIAL</a:t>
            </a:r>
          </a:p>
        </p:txBody>
      </p:sp>
      <p:sp>
        <p:nvSpPr>
          <p:cNvPr id="5" name="TextBox 4"/>
          <p:cNvSpPr txBox="1"/>
          <p:nvPr/>
        </p:nvSpPr>
        <p:spPr>
          <a:xfrm>
            <a:off x="749808" y="1691640"/>
            <a:ext cx="10515600" cy="1600200"/>
          </a:xfrm>
          <a:prstGeom prst="rect">
            <a:avLst/>
          </a:prstGeom>
          <a:noFill/>
        </p:spPr>
        <p:txBody>
          <a:bodyPr wrap="square" anchor="t" lIns="0" rIns="0" tIns="0" bIns="0">
            <a:spAutoFit/>
          </a:bodyPr>
          <a:lstStyle/>
          <a:p>
            <a:pPr algn="l">
              <a:spcAft>
                <a:spcPts val="600"/>
              </a:spcAft>
            </a:pPr>
            <a:r>
              <a:rPr sz="3800" b="1" i="0">
                <a:solidFill>
                  <a:srgbClr val="FFFFFF"/>
                </a:solidFill>
                <a:latin typeface="Calibri"/>
              </a:rPr>
              <a:t>Modelado de Requerimientos
del Negocio de Fogón Andino S.A.C.</a:t>
            </a:r>
          </a:p>
        </p:txBody>
      </p:sp>
      <p:sp>
        <p:nvSpPr>
          <p:cNvPr id="6" name="TextBox 5"/>
          <p:cNvSpPr txBox="1"/>
          <p:nvPr/>
        </p:nvSpPr>
        <p:spPr>
          <a:xfrm>
            <a:off x="749808" y="3401568"/>
            <a:ext cx="10515600" cy="365760"/>
          </a:xfrm>
          <a:prstGeom prst="rect">
            <a:avLst/>
          </a:prstGeom>
          <a:noFill/>
        </p:spPr>
        <p:txBody>
          <a:bodyPr wrap="square" anchor="t" lIns="0" rIns="0" tIns="0" bIns="0">
            <a:spAutoFit/>
          </a:bodyPr>
          <a:lstStyle/>
          <a:p>
            <a:pPr algn="l">
              <a:spcAft>
                <a:spcPts val="600"/>
              </a:spcAft>
            </a:pPr>
            <a:r>
              <a:rPr sz="1900" b="1" i="0">
                <a:solidFill>
                  <a:srgbClr val="D98E32"/>
                </a:solidFill>
                <a:latin typeface="Calibri"/>
              </a:rPr>
              <a:t>Avance 1 del Proyecto Final</a:t>
            </a:r>
          </a:p>
        </p:txBody>
      </p:sp>
      <p:sp>
        <p:nvSpPr>
          <p:cNvPr id="7" name="Rectangle 6"/>
          <p:cNvSpPr/>
          <p:nvPr/>
        </p:nvSpPr>
        <p:spPr>
          <a:xfrm>
            <a:off x="749808" y="3977639"/>
            <a:ext cx="4206240" cy="18288"/>
          </a:xfrm>
          <a:prstGeom prst="rect">
            <a:avLst/>
          </a:prstGeom>
          <a:solidFill>
            <a:srgbClr val="4A6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187952"/>
            <a:ext cx="10058400" cy="640080"/>
          </a:xfrm>
          <a:prstGeom prst="rect">
            <a:avLst/>
          </a:prstGeom>
          <a:noFill/>
        </p:spPr>
        <p:txBody>
          <a:bodyPr wrap="square" anchor="t" lIns="0" rIns="0" tIns="0" bIns="0">
            <a:spAutoFit/>
          </a:bodyPr>
          <a:lstStyle/>
          <a:p>
            <a:pPr algn="l">
              <a:spcAft>
                <a:spcPts val="600"/>
              </a:spcAft>
            </a:pPr>
            <a:r>
              <a:rPr sz="1300" b="0" i="0">
                <a:solidFill>
                  <a:srgbClr val="C8D6EE"/>
                </a:solidFill>
                <a:latin typeface="Calibri"/>
              </a:rPr>
              <a:t>[Nombre completo del Estudiante 1]   ·   [Estudiante 2]
[Estudiante 3]   ·   [Estudiante 4]</a:t>
            </a:r>
          </a:p>
        </p:txBody>
      </p:sp>
      <p:sp>
        <p:nvSpPr>
          <p:cNvPr id="9" name="TextBox 8"/>
          <p:cNvSpPr txBox="1"/>
          <p:nvPr/>
        </p:nvSpPr>
        <p:spPr>
          <a:xfrm>
            <a:off x="749808" y="4983480"/>
            <a:ext cx="10058400" cy="640080"/>
          </a:xfrm>
          <a:prstGeom prst="rect">
            <a:avLst/>
          </a:prstGeom>
          <a:noFill/>
        </p:spPr>
        <p:txBody>
          <a:bodyPr wrap="square" anchor="t" lIns="0" rIns="0" tIns="0" bIns="0">
            <a:spAutoFit/>
          </a:bodyPr>
          <a:lstStyle/>
          <a:p>
            <a:pPr algn="l">
              <a:spcAft>
                <a:spcPts val="600"/>
              </a:spcAft>
            </a:pPr>
            <a:r>
              <a:rPr sz="1250" b="0" i="0">
                <a:solidFill>
                  <a:srgbClr val="C8D6EE"/>
                </a:solidFill>
                <a:latin typeface="Calibri"/>
              </a:rPr>
              <a:t>Docente: Ing. Jair Darnley Vásquez Aguirre
Universidad Tecnológica del Perú  ·  Setiembre 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AGENDA</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Lo que veremos hoy</a:t>
            </a:r>
          </a:p>
        </p:txBody>
      </p:sp>
      <p:sp>
        <p:nvSpPr>
          <p:cNvPr id="5" name="TextBox 4"/>
          <p:cNvSpPr txBox="1"/>
          <p:nvPr/>
        </p:nvSpPr>
        <p:spPr>
          <a:xfrm>
            <a:off x="749808" y="1435607"/>
            <a:ext cx="10515600" cy="4480560"/>
          </a:xfrm>
          <a:prstGeom prst="rect">
            <a:avLst/>
          </a:prstGeom>
          <a:noFill/>
        </p:spPr>
        <p:txBody>
          <a:bodyPr wrap="square" lIns="0" rIns="0" tIns="0" bIns="0">
            <a:spAutoFit/>
          </a:bodyPr>
          <a:lstStyle/>
          <a:p>
            <a:pPr>
              <a:lnSpc>
                <a:spcPct val="112000"/>
              </a:lnSpc>
              <a:spcAft>
                <a:spcPts val="1300"/>
              </a:spcAft>
            </a:pPr>
            <a:r>
              <a:rPr sz="1750">
                <a:solidFill>
                  <a:srgbClr val="1F2937"/>
                </a:solidFill>
                <a:latin typeface="Calibri"/>
              </a:rPr>
              <a:t>▪  1.  La empresa y sus procesos de negocio</a:t>
            </a:r>
          </a:p>
          <a:p>
            <a:pPr>
              <a:lnSpc>
                <a:spcPct val="112000"/>
              </a:lnSpc>
              <a:spcAft>
                <a:spcPts val="1300"/>
              </a:spcAft>
            </a:pPr>
            <a:r>
              <a:rPr sz="1750">
                <a:solidFill>
                  <a:srgbClr val="1F2937"/>
                </a:solidFill>
                <a:latin typeface="Calibri"/>
              </a:rPr>
              <a:t>▪  2.  Modelado del negocio: actores y casos de uso del negocio</a:t>
            </a:r>
          </a:p>
          <a:p>
            <a:pPr>
              <a:lnSpc>
                <a:spcPct val="112000"/>
              </a:lnSpc>
              <a:spcAft>
                <a:spcPts val="1300"/>
              </a:spcAft>
            </a:pPr>
            <a:r>
              <a:rPr sz="1750">
                <a:solidFill>
                  <a:srgbClr val="1F2937"/>
                </a:solidFill>
                <a:latin typeface="Calibri"/>
              </a:rPr>
              <a:t>▪  3.  Modelo de dominio</a:t>
            </a:r>
          </a:p>
          <a:p>
            <a:pPr>
              <a:lnSpc>
                <a:spcPct val="112000"/>
              </a:lnSpc>
              <a:spcAft>
                <a:spcPts val="1300"/>
              </a:spcAft>
            </a:pPr>
            <a:r>
              <a:rPr sz="1750">
                <a:solidFill>
                  <a:srgbClr val="1F2937"/>
                </a:solidFill>
                <a:latin typeface="Calibri"/>
              </a:rPr>
              <a:t>▪  4.  Diagramas de actividades de los dos procesos clave</a:t>
            </a:r>
          </a:p>
          <a:p>
            <a:pPr>
              <a:lnSpc>
                <a:spcPct val="112000"/>
              </a:lnSpc>
              <a:spcAft>
                <a:spcPts val="1300"/>
              </a:spcAft>
            </a:pPr>
            <a:r>
              <a:rPr sz="1750">
                <a:solidFill>
                  <a:srgbClr val="1F2937"/>
                </a:solidFill>
                <a:latin typeface="Calibri"/>
              </a:rPr>
              <a:t>▪  5.  Especificación de requerimientos de software (SRS)</a:t>
            </a:r>
          </a:p>
          <a:p>
            <a:pPr>
              <a:lnSpc>
                <a:spcPct val="112000"/>
              </a:lnSpc>
              <a:spcAft>
                <a:spcPts val="1300"/>
              </a:spcAft>
            </a:pPr>
            <a:r>
              <a:rPr sz="1750">
                <a:solidFill>
                  <a:srgbClr val="1F2937"/>
                </a:solidFill>
                <a:latin typeface="Calibri"/>
              </a:rPr>
              <a:t>▪  6.  Nivel de madurez CMMI del equipo</a:t>
            </a:r>
          </a:p>
          <a:p>
            <a:pPr>
              <a:lnSpc>
                <a:spcPct val="112000"/>
              </a:lnSpc>
              <a:spcAft>
                <a:spcPts val="1300"/>
              </a:spcAft>
            </a:pPr>
            <a:r>
              <a:rPr sz="1750">
                <a:solidFill>
                  <a:srgbClr val="1F2937"/>
                </a:solidFill>
                <a:latin typeface="Calibri"/>
              </a:rPr>
              <a:t>▪  7.  Conclusiones y siguientes pasos hacia TOGAF</a:t>
            </a:r>
          </a:p>
        </p:txBody>
      </p:sp>
      <p:sp>
        <p:nvSpPr>
          <p:cNvPr id="6" name="TextBox 5"/>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7" name="TextBox 6"/>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1. GESTIÓN DEL PROYECTO</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Fogón Andino S.A.C.: un restaurante que aún opera en papel</a:t>
            </a:r>
          </a:p>
        </p:txBody>
      </p:sp>
      <p:sp>
        <p:nvSpPr>
          <p:cNvPr id="5" name="TextBox 4"/>
          <p:cNvSpPr txBox="1"/>
          <p:nvPr/>
        </p:nvSpPr>
        <p:spPr>
          <a:xfrm>
            <a:off x="749808" y="1389888"/>
            <a:ext cx="10515600" cy="4480560"/>
          </a:xfrm>
          <a:prstGeom prst="rect">
            <a:avLst/>
          </a:prstGeom>
          <a:noFill/>
        </p:spPr>
        <p:txBody>
          <a:bodyPr wrap="square" lIns="0" rIns="0" tIns="0" bIns="0">
            <a:spAutoFit/>
          </a:bodyPr>
          <a:lstStyle/>
          <a:p>
            <a:pPr>
              <a:lnSpc>
                <a:spcPct val="112000"/>
              </a:lnSpc>
              <a:spcAft>
                <a:spcPts val="1000"/>
              </a:spcAft>
            </a:pPr>
            <a:r>
              <a:rPr sz="1600">
                <a:solidFill>
                  <a:srgbClr val="1F2937"/>
                </a:solidFill>
                <a:latin typeface="Calibri"/>
              </a:rPr>
              <a:t>▪  Restaurante de comida peruana tradicional, local principal en Miraflores, Lima</a:t>
            </a:r>
          </a:p>
          <a:p>
            <a:pPr>
              <a:lnSpc>
                <a:spcPct val="112000"/>
              </a:lnSpc>
              <a:spcAft>
                <a:spcPts val="1000"/>
              </a:spcAft>
            </a:pPr>
            <a:r>
              <a:rPr sz="1600">
                <a:solidFill>
                  <a:srgbClr val="1F2937"/>
                </a:solidFill>
                <a:latin typeface="Calibri"/>
              </a:rPr>
              <a:t>▪  80 comensales en 20 mesas  ·  350 clientes diarios entre local y delivery</a:t>
            </a:r>
          </a:p>
          <a:p>
            <a:pPr>
              <a:lnSpc>
                <a:spcPct val="112000"/>
              </a:lnSpc>
              <a:spcAft>
                <a:spcPts val="1000"/>
              </a:spcAft>
            </a:pPr>
            <a:r>
              <a:rPr sz="1600">
                <a:solidFill>
                  <a:srgbClr val="1F2937"/>
                </a:solidFill>
                <a:latin typeface="Calibri"/>
              </a:rPr>
              <a:t>▪  18 trabajadores: mozos, cocineros, cajeros, administrador y repartidores externos</a:t>
            </a:r>
          </a:p>
          <a:p>
            <a:pPr>
              <a:lnSpc>
                <a:spcPct val="112000"/>
              </a:lnSpc>
              <a:spcAft>
                <a:spcPts val="1000"/>
              </a:spcAft>
            </a:pPr>
            <a:r>
              <a:rPr sz="1600">
                <a:solidFill>
                  <a:srgbClr val="1F2937"/>
                </a:solidFill>
                <a:latin typeface="Calibri"/>
              </a:rPr>
              <a:t>▪  Opera con procesos manuales y ofimática no integrada</a:t>
            </a:r>
          </a:p>
          <a:p>
            <a:pPr>
              <a:lnSpc>
                <a:spcPct val="112000"/>
              </a:lnSpc>
              <a:spcAft>
                <a:spcPts val="1000"/>
              </a:spcAft>
            </a:pPr>
            <a:r>
              <a:rPr sz="1400">
                <a:solidFill>
                  <a:srgbClr val="6B7280"/>
                </a:solidFill>
                <a:latin typeface="Calibri"/>
              </a:rPr>
              <a:t>        –  Esto genera demoras, errores de registro y pérdida de información</a:t>
            </a:r>
          </a:p>
          <a:p>
            <a:pPr>
              <a:lnSpc>
                <a:spcPct val="112000"/>
              </a:lnSpc>
              <a:spcAft>
                <a:spcPts val="1000"/>
              </a:spcAft>
            </a:pPr>
            <a:r>
              <a:rPr sz="1600">
                <a:solidFill>
                  <a:srgbClr val="1F2937"/>
                </a:solidFill>
                <a:latin typeface="Calibri"/>
              </a:rPr>
              <a:t>▪  La dirección decidió desarrollar un sistema de gestión de pedidos</a:t>
            </a:r>
          </a:p>
          <a:p>
            <a:pPr>
              <a:lnSpc>
                <a:spcPct val="112000"/>
              </a:lnSpc>
              <a:spcAft>
                <a:spcPts val="1000"/>
              </a:spcAft>
            </a:pPr>
            <a:r>
              <a:rPr sz="1400">
                <a:solidFill>
                  <a:srgbClr val="6B7280"/>
                </a:solidFill>
                <a:latin typeface="Calibri"/>
              </a:rPr>
              <a:t>        –  Debe integrar local, pedidos en línea y delivery, y ser la base de la arquitectura empresarial futura</a:t>
            </a:r>
          </a:p>
        </p:txBody>
      </p:sp>
      <p:sp>
        <p:nvSpPr>
          <p:cNvPr id="6" name="TextBox 5"/>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7" name="TextBox 6"/>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1. GESTIÓN DEL PROYECTO</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Cuatro procesos sostienen la operación; dos son los críticos</a:t>
            </a:r>
          </a:p>
        </p:txBody>
      </p:sp>
      <p:sp>
        <p:nvSpPr>
          <p:cNvPr id="5" name="Rounded Rectangle 4"/>
          <p:cNvSpPr/>
          <p:nvPr/>
        </p:nvSpPr>
        <p:spPr>
          <a:xfrm>
            <a:off x="566928" y="1344168"/>
            <a:ext cx="10881360" cy="896112"/>
          </a:xfrm>
          <a:prstGeom prst="roundRect">
            <a:avLst>
              <a:gd name="adj" fmla="val 10000"/>
            </a:avLst>
          </a:prstGeom>
          <a:solidFill>
            <a:srgbClr val="E8F0FE"/>
          </a:solidFill>
          <a:ln w="13970">
            <a:solidFill>
              <a:srgbClr val="D98E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453895"/>
            <a:ext cx="4023360" cy="292608"/>
          </a:xfrm>
          <a:prstGeom prst="rect">
            <a:avLst/>
          </a:prstGeom>
          <a:noFill/>
        </p:spPr>
        <p:txBody>
          <a:bodyPr wrap="square" anchor="t" lIns="0" rIns="0" tIns="0" bIns="0">
            <a:spAutoFit/>
          </a:bodyPr>
          <a:lstStyle/>
          <a:p>
            <a:pPr algn="l">
              <a:spcAft>
                <a:spcPts val="600"/>
              </a:spcAft>
            </a:pPr>
            <a:r>
              <a:rPr sz="1550" b="1" i="0">
                <a:solidFill>
                  <a:srgbClr val="1F3A5F"/>
                </a:solidFill>
                <a:latin typeface="Calibri"/>
              </a:rPr>
              <a:t>(a) Atención de pedidos en el local</a:t>
            </a:r>
          </a:p>
        </p:txBody>
      </p:sp>
      <p:sp>
        <p:nvSpPr>
          <p:cNvPr id="7" name="TextBox 6"/>
          <p:cNvSpPr txBox="1"/>
          <p:nvPr/>
        </p:nvSpPr>
        <p:spPr>
          <a:xfrm>
            <a:off x="768096" y="1755648"/>
            <a:ext cx="10424160" cy="384048"/>
          </a:xfrm>
          <a:prstGeom prst="rect">
            <a:avLst/>
          </a:prstGeom>
          <a:noFill/>
        </p:spPr>
        <p:txBody>
          <a:bodyPr wrap="square" anchor="t" lIns="0" rIns="0" tIns="0" bIns="0">
            <a:spAutoFit/>
          </a:bodyPr>
          <a:lstStyle/>
          <a:p>
            <a:pPr algn="l">
              <a:spcAft>
                <a:spcPts val="600"/>
              </a:spcAft>
            </a:pPr>
            <a:r>
              <a:rPr sz="1250" b="0" i="0">
                <a:solidFill>
                  <a:srgbClr val="1F2937"/>
                </a:solidFill>
                <a:latin typeface="Calibri"/>
              </a:rPr>
              <a:t>Recepción del comensal, toma del pedido, preparación, servicio, cobro y liberación de la mesa</a:t>
            </a:r>
          </a:p>
        </p:txBody>
      </p:sp>
      <p:sp>
        <p:nvSpPr>
          <p:cNvPr id="8" name="TextBox 7"/>
          <p:cNvSpPr txBox="1"/>
          <p:nvPr/>
        </p:nvSpPr>
        <p:spPr>
          <a:xfrm>
            <a:off x="8430767" y="1463040"/>
            <a:ext cx="2834640" cy="274320"/>
          </a:xfrm>
          <a:prstGeom prst="rect">
            <a:avLst/>
          </a:prstGeom>
          <a:noFill/>
        </p:spPr>
        <p:txBody>
          <a:bodyPr wrap="square" anchor="t" lIns="0" rIns="0" tIns="0" bIns="0">
            <a:spAutoFit/>
          </a:bodyPr>
          <a:lstStyle/>
          <a:p>
            <a:pPr algn="r">
              <a:spcAft>
                <a:spcPts val="600"/>
              </a:spcAft>
            </a:pPr>
            <a:r>
              <a:rPr sz="1100" b="1" i="0">
                <a:solidFill>
                  <a:srgbClr val="D98E32"/>
                </a:solidFill>
                <a:latin typeface="Calibri"/>
              </a:rPr>
              <a:t>modelado en este avance</a:t>
            </a:r>
          </a:p>
        </p:txBody>
      </p:sp>
      <p:sp>
        <p:nvSpPr>
          <p:cNvPr id="9" name="Rounded Rectangle 8"/>
          <p:cNvSpPr/>
          <p:nvPr/>
        </p:nvSpPr>
        <p:spPr>
          <a:xfrm>
            <a:off x="566928" y="2386584"/>
            <a:ext cx="10881360" cy="896112"/>
          </a:xfrm>
          <a:prstGeom prst="roundRect">
            <a:avLst>
              <a:gd name="adj" fmla="val 10000"/>
            </a:avLst>
          </a:prstGeom>
          <a:solidFill>
            <a:srgbClr val="E8F0FE"/>
          </a:solidFill>
          <a:ln w="13970">
            <a:solidFill>
              <a:srgbClr val="D98E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496312"/>
            <a:ext cx="4023360" cy="292608"/>
          </a:xfrm>
          <a:prstGeom prst="rect">
            <a:avLst/>
          </a:prstGeom>
          <a:noFill/>
        </p:spPr>
        <p:txBody>
          <a:bodyPr wrap="square" anchor="t" lIns="0" rIns="0" tIns="0" bIns="0">
            <a:spAutoFit/>
          </a:bodyPr>
          <a:lstStyle/>
          <a:p>
            <a:pPr algn="l">
              <a:spcAft>
                <a:spcPts val="600"/>
              </a:spcAft>
            </a:pPr>
            <a:r>
              <a:rPr sz="1550" b="1" i="0">
                <a:solidFill>
                  <a:srgbClr val="1F3A5F"/>
                </a:solidFill>
                <a:latin typeface="Calibri"/>
              </a:rPr>
              <a:t>(b) Pedidos en línea con delivery</a:t>
            </a:r>
          </a:p>
        </p:txBody>
      </p:sp>
      <p:sp>
        <p:nvSpPr>
          <p:cNvPr id="11" name="TextBox 10"/>
          <p:cNvSpPr txBox="1"/>
          <p:nvPr/>
        </p:nvSpPr>
        <p:spPr>
          <a:xfrm>
            <a:off x="768096" y="2798064"/>
            <a:ext cx="10424160" cy="384048"/>
          </a:xfrm>
          <a:prstGeom prst="rect">
            <a:avLst/>
          </a:prstGeom>
          <a:noFill/>
        </p:spPr>
        <p:txBody>
          <a:bodyPr wrap="square" anchor="t" lIns="0" rIns="0" tIns="0" bIns="0">
            <a:spAutoFit/>
          </a:bodyPr>
          <a:lstStyle/>
          <a:p>
            <a:pPr algn="l">
              <a:spcAft>
                <a:spcPts val="600"/>
              </a:spcAft>
            </a:pPr>
            <a:r>
              <a:rPr sz="1250" b="0" i="0">
                <a:solidFill>
                  <a:srgbClr val="1F2937"/>
                </a:solidFill>
                <a:latin typeface="Calibri"/>
              </a:rPr>
              <a:t>Recepción por tienda virtual, confirmación de stock, pago electrónico, preparación, empaquetado y entrega</a:t>
            </a:r>
          </a:p>
        </p:txBody>
      </p:sp>
      <p:sp>
        <p:nvSpPr>
          <p:cNvPr id="12" name="TextBox 11"/>
          <p:cNvSpPr txBox="1"/>
          <p:nvPr/>
        </p:nvSpPr>
        <p:spPr>
          <a:xfrm>
            <a:off x="8430767" y="2505456"/>
            <a:ext cx="2834640" cy="274320"/>
          </a:xfrm>
          <a:prstGeom prst="rect">
            <a:avLst/>
          </a:prstGeom>
          <a:noFill/>
        </p:spPr>
        <p:txBody>
          <a:bodyPr wrap="square" anchor="t" lIns="0" rIns="0" tIns="0" bIns="0">
            <a:spAutoFit/>
          </a:bodyPr>
          <a:lstStyle/>
          <a:p>
            <a:pPr algn="r">
              <a:spcAft>
                <a:spcPts val="600"/>
              </a:spcAft>
            </a:pPr>
            <a:r>
              <a:rPr sz="1100" b="1" i="0">
                <a:solidFill>
                  <a:srgbClr val="D98E32"/>
                </a:solidFill>
                <a:latin typeface="Calibri"/>
              </a:rPr>
              <a:t>modelado en este avance</a:t>
            </a:r>
          </a:p>
        </p:txBody>
      </p:sp>
      <p:sp>
        <p:nvSpPr>
          <p:cNvPr id="13" name="Rounded Rectangle 12"/>
          <p:cNvSpPr/>
          <p:nvPr/>
        </p:nvSpPr>
        <p:spPr>
          <a:xfrm>
            <a:off x="566928" y="3429000"/>
            <a:ext cx="10881360" cy="896112"/>
          </a:xfrm>
          <a:prstGeom prst="roundRect">
            <a:avLst>
              <a:gd name="adj" fmla="val 10000"/>
            </a:avLst>
          </a:prstGeom>
          <a:solidFill>
            <a:srgbClr val="F4F6F8"/>
          </a:solidFill>
          <a:ln w="13970">
            <a:solidFill>
              <a:srgbClr val="D8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3538728"/>
            <a:ext cx="4023360" cy="292608"/>
          </a:xfrm>
          <a:prstGeom prst="rect">
            <a:avLst/>
          </a:prstGeom>
          <a:noFill/>
        </p:spPr>
        <p:txBody>
          <a:bodyPr wrap="square" anchor="t" lIns="0" rIns="0" tIns="0" bIns="0">
            <a:spAutoFit/>
          </a:bodyPr>
          <a:lstStyle/>
          <a:p>
            <a:pPr algn="l">
              <a:spcAft>
                <a:spcPts val="600"/>
              </a:spcAft>
            </a:pPr>
            <a:r>
              <a:rPr sz="1550" b="1" i="0">
                <a:solidFill>
                  <a:srgbClr val="1F3A5F"/>
                </a:solidFill>
                <a:latin typeface="Calibri"/>
              </a:rPr>
              <a:t>(c) Gestión de la carta y los insumos</a:t>
            </a:r>
          </a:p>
        </p:txBody>
      </p:sp>
      <p:sp>
        <p:nvSpPr>
          <p:cNvPr id="15" name="TextBox 14"/>
          <p:cNvSpPr txBox="1"/>
          <p:nvPr/>
        </p:nvSpPr>
        <p:spPr>
          <a:xfrm>
            <a:off x="768096" y="3840480"/>
            <a:ext cx="10424160" cy="384048"/>
          </a:xfrm>
          <a:prstGeom prst="rect">
            <a:avLst/>
          </a:prstGeom>
          <a:noFill/>
        </p:spPr>
        <p:txBody>
          <a:bodyPr wrap="square" anchor="t" lIns="0" rIns="0" tIns="0" bIns="0">
            <a:spAutoFit/>
          </a:bodyPr>
          <a:lstStyle/>
          <a:p>
            <a:pPr algn="l">
              <a:spcAft>
                <a:spcPts val="600"/>
              </a:spcAft>
            </a:pPr>
            <a:r>
              <a:rPr sz="1250" b="0" i="0">
                <a:solidFill>
                  <a:srgbClr val="1F2937"/>
                </a:solidFill>
                <a:latin typeface="Calibri"/>
              </a:rPr>
              <a:t>Actualización de platos disponibles y abastecimiento por proveedores</a:t>
            </a:r>
          </a:p>
        </p:txBody>
      </p:sp>
      <p:sp>
        <p:nvSpPr>
          <p:cNvPr id="16" name="Rounded Rectangle 15"/>
          <p:cNvSpPr/>
          <p:nvPr/>
        </p:nvSpPr>
        <p:spPr>
          <a:xfrm>
            <a:off x="566928" y="4471416"/>
            <a:ext cx="10881360" cy="896112"/>
          </a:xfrm>
          <a:prstGeom prst="roundRect">
            <a:avLst>
              <a:gd name="adj" fmla="val 10000"/>
            </a:avLst>
          </a:prstGeom>
          <a:solidFill>
            <a:srgbClr val="F4F6F8"/>
          </a:solidFill>
          <a:ln w="13970">
            <a:solidFill>
              <a:srgbClr val="D8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581144"/>
            <a:ext cx="4023360" cy="292608"/>
          </a:xfrm>
          <a:prstGeom prst="rect">
            <a:avLst/>
          </a:prstGeom>
          <a:noFill/>
        </p:spPr>
        <p:txBody>
          <a:bodyPr wrap="square" anchor="t" lIns="0" rIns="0" tIns="0" bIns="0">
            <a:spAutoFit/>
          </a:bodyPr>
          <a:lstStyle/>
          <a:p>
            <a:pPr algn="l">
              <a:spcAft>
                <a:spcPts val="600"/>
              </a:spcAft>
            </a:pPr>
            <a:r>
              <a:rPr sz="1550" b="1" i="0">
                <a:solidFill>
                  <a:srgbClr val="1F3A5F"/>
                </a:solidFill>
                <a:latin typeface="Calibri"/>
              </a:rPr>
              <a:t>(d) Gestión de reservas y cobros</a:t>
            </a:r>
          </a:p>
        </p:txBody>
      </p:sp>
      <p:sp>
        <p:nvSpPr>
          <p:cNvPr id="18" name="TextBox 17"/>
          <p:cNvSpPr txBox="1"/>
          <p:nvPr/>
        </p:nvSpPr>
        <p:spPr>
          <a:xfrm>
            <a:off x="768096" y="4882896"/>
            <a:ext cx="10424160" cy="384048"/>
          </a:xfrm>
          <a:prstGeom prst="rect">
            <a:avLst/>
          </a:prstGeom>
          <a:noFill/>
        </p:spPr>
        <p:txBody>
          <a:bodyPr wrap="square" anchor="t" lIns="0" rIns="0" tIns="0" bIns="0">
            <a:spAutoFit/>
          </a:bodyPr>
          <a:lstStyle/>
          <a:p>
            <a:pPr algn="l">
              <a:spcAft>
                <a:spcPts val="600"/>
              </a:spcAft>
            </a:pPr>
            <a:r>
              <a:rPr sz="1250" b="0" i="0">
                <a:solidFill>
                  <a:srgbClr val="1F2937"/>
                </a:solidFill>
                <a:latin typeface="Calibri"/>
              </a:rPr>
              <a:t>Reserva de mesas y emisión de comprobantes de pago</a:t>
            </a:r>
          </a:p>
        </p:txBody>
      </p:sp>
      <p:sp>
        <p:nvSpPr>
          <p:cNvPr id="19" name="TextBox 18"/>
          <p:cNvSpPr txBox="1"/>
          <p:nvPr/>
        </p:nvSpPr>
        <p:spPr>
          <a:xfrm>
            <a:off x="612648" y="5495544"/>
            <a:ext cx="10881360" cy="365760"/>
          </a:xfrm>
          <a:prstGeom prst="rect">
            <a:avLst/>
          </a:prstGeom>
          <a:noFill/>
        </p:spPr>
        <p:txBody>
          <a:bodyPr wrap="square" anchor="t" lIns="0" rIns="0" tIns="0" bIns="0">
            <a:spAutoFit/>
          </a:bodyPr>
          <a:lstStyle/>
          <a:p>
            <a:pPr algn="l">
              <a:spcAft>
                <a:spcPts val="600"/>
              </a:spcAft>
            </a:pPr>
            <a:r>
              <a:rPr sz="1200" b="0" i="1">
                <a:solidFill>
                  <a:srgbClr val="6B7280"/>
                </a:solidFill>
                <a:latin typeface="Calibri"/>
              </a:rPr>
              <a:t>Se modelan los dos procesos marcados porque son los que sostienen la transformación digital (Sommerville, 2011).</a:t>
            </a:r>
          </a:p>
        </p:txBody>
      </p:sp>
      <p:sp>
        <p:nvSpPr>
          <p:cNvPr id="20" name="TextBox 19"/>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21" name="TextBox 20"/>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2. MODELADO DEL NEGOCIO</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Siete actores interactúan con el negocio</a:t>
            </a:r>
          </a:p>
        </p:txBody>
      </p:sp>
      <p:graphicFrame>
        <p:nvGraphicFramePr>
          <p:cNvPr id="5" name="Table 4"/>
          <p:cNvGraphicFramePr>
            <a:graphicFrameLocks noGrp="1"/>
          </p:cNvGraphicFramePr>
          <p:nvPr/>
        </p:nvGraphicFramePr>
        <p:xfrm>
          <a:off x="566928" y="1435607"/>
          <a:ext cx="10881360" cy="3803904"/>
        </p:xfrm>
        <a:graphic>
          <a:graphicData uri="http://schemas.openxmlformats.org/drawingml/2006/table">
            <a:tbl>
              <a:tblPr firstRow="1" bandRow="1">
                <a:tableStyleId>{5C22544A-7EE6-4342-B048-85BDC9FD1C3A}</a:tableStyleId>
              </a:tblPr>
              <a:tblGrid>
                <a:gridCol w="2720340"/>
                <a:gridCol w="2720340"/>
                <a:gridCol w="2720340"/>
                <a:gridCol w="2720340"/>
              </a:tblGrid>
              <a:tr h="475488">
                <a:tc>
                  <a:txBody>
                    <a:bodyPr/>
                    <a:lstStyle/>
                    <a:p>
                      <a:r>
                        <a:rPr sz="1300" b="1">
                          <a:solidFill>
                            <a:srgbClr val="FFFFFF"/>
                          </a:solidFill>
                          <a:latin typeface="Calibri"/>
                        </a:rPr>
                        <a:t>Actor</a:t>
                      </a:r>
                    </a:p>
                  </a:txBody>
                  <a:tcPr marL="64008" marR="64008" marT="18288" marB="18288" anchor="ctr">
                    <a:solidFill>
                      <a:srgbClr val="1F3A5F"/>
                    </a:solidFill>
                  </a:tcPr>
                </a:tc>
                <a:tc>
                  <a:txBody>
                    <a:bodyPr/>
                    <a:lstStyle/>
                    <a:p>
                      <a:r>
                        <a:rPr sz="1300" b="1">
                          <a:solidFill>
                            <a:srgbClr val="FFFFFF"/>
                          </a:solidFill>
                          <a:latin typeface="Calibri"/>
                        </a:rPr>
                        <a:t>Tipo</a:t>
                      </a:r>
                    </a:p>
                  </a:txBody>
                  <a:tcPr marL="64008" marR="64008" marT="18288" marB="18288" anchor="ctr">
                    <a:solidFill>
                      <a:srgbClr val="1F3A5F"/>
                    </a:solidFill>
                  </a:tcPr>
                </a:tc>
                <a:tc>
                  <a:txBody>
                    <a:bodyPr/>
                    <a:lstStyle/>
                    <a:p>
                      <a:r>
                        <a:rPr sz="1300" b="1">
                          <a:solidFill>
                            <a:srgbClr val="FFFFFF"/>
                          </a:solidFill>
                          <a:latin typeface="Calibri"/>
                        </a:rPr>
                        <a:t>Rol en el negocio</a:t>
                      </a:r>
                    </a:p>
                  </a:txBody>
                  <a:tcPr marL="64008" marR="64008" marT="18288" marB="18288" anchor="ctr">
                    <a:solidFill>
                      <a:srgbClr val="1F3A5F"/>
                    </a:solidFill>
                  </a:tcPr>
                </a:tc>
                <a:tc>
                  <a:txBody>
                    <a:bodyPr/>
                    <a:lstStyle/>
                    <a:p>
                      <a:r>
                        <a:rPr sz="1300" b="1">
                          <a:solidFill>
                            <a:srgbClr val="FFFFFF"/>
                          </a:solidFill>
                          <a:latin typeface="Calibri"/>
                        </a:rPr>
                        <a:t>Procesos</a:t>
                      </a:r>
                    </a:p>
                  </a:txBody>
                  <a:tcPr marL="64008" marR="64008" marT="18288" marB="18288" anchor="ctr">
                    <a:solidFill>
                      <a:srgbClr val="1F3A5F"/>
                    </a:solidFill>
                  </a:tcPr>
                </a:tc>
              </a:tr>
              <a:tr h="475488">
                <a:tc>
                  <a:txBody>
                    <a:bodyPr/>
                    <a:lstStyle/>
                    <a:p>
                      <a:r>
                        <a:rPr sz="1300">
                          <a:solidFill>
                            <a:srgbClr val="1F2937"/>
                          </a:solidFill>
                          <a:latin typeface="Calibri"/>
                        </a:rPr>
                        <a:t>Cliente</a:t>
                      </a:r>
                    </a:p>
                  </a:txBody>
                  <a:tcPr marL="64008" marR="64008" marT="18288" marB="18288" anchor="ctr">
                    <a:solidFill>
                      <a:srgbClr val="FFFFFF"/>
                    </a:solidFill>
                  </a:tcPr>
                </a:tc>
                <a:tc>
                  <a:txBody>
                    <a:bodyPr/>
                    <a:lstStyle/>
                    <a:p>
                      <a:r>
                        <a:rPr sz="1300">
                          <a:solidFill>
                            <a:srgbClr val="1F2937"/>
                          </a:solidFill>
                          <a:latin typeface="Calibri"/>
                        </a:rPr>
                        <a:t>Externo</a:t>
                      </a:r>
                    </a:p>
                  </a:txBody>
                  <a:tcPr marL="64008" marR="64008" marT="18288" marB="18288" anchor="ctr">
                    <a:solidFill>
                      <a:srgbClr val="FFFFFF"/>
                    </a:solidFill>
                  </a:tcPr>
                </a:tc>
                <a:tc>
                  <a:txBody>
                    <a:bodyPr/>
                    <a:lstStyle/>
                    <a:p>
                      <a:r>
                        <a:rPr sz="1300">
                          <a:solidFill>
                            <a:srgbClr val="1F2937"/>
                          </a:solidFill>
                          <a:latin typeface="Calibri"/>
                        </a:rPr>
                        <a:t>Consume en el local o pide delivery</a:t>
                      </a:r>
                    </a:p>
                  </a:txBody>
                  <a:tcPr marL="64008" marR="64008" marT="18288" marB="18288" anchor="ctr">
                    <a:solidFill>
                      <a:srgbClr val="FFFFFF"/>
                    </a:solidFill>
                  </a:tcPr>
                </a:tc>
                <a:tc>
                  <a:txBody>
                    <a:bodyPr/>
                    <a:lstStyle/>
                    <a:p>
                      <a:r>
                        <a:rPr sz="1300">
                          <a:solidFill>
                            <a:srgbClr val="1F2937"/>
                          </a:solidFill>
                          <a:latin typeface="Calibri"/>
                        </a:rPr>
                        <a:t>Pedido, pago, reserva</a:t>
                      </a:r>
                    </a:p>
                  </a:txBody>
                  <a:tcPr marL="64008" marR="64008" marT="18288" marB="18288" anchor="ctr">
                    <a:solidFill>
                      <a:srgbClr val="FFFFFF"/>
                    </a:solidFill>
                  </a:tcPr>
                </a:tc>
              </a:tr>
              <a:tr h="475488">
                <a:tc>
                  <a:txBody>
                    <a:bodyPr/>
                    <a:lstStyle/>
                    <a:p>
                      <a:r>
                        <a:rPr sz="1300">
                          <a:solidFill>
                            <a:srgbClr val="1F2937"/>
                          </a:solidFill>
                          <a:latin typeface="Calibri"/>
                        </a:rPr>
                        <a:t>Mozo</a:t>
                      </a:r>
                    </a:p>
                  </a:txBody>
                  <a:tcPr marL="64008" marR="64008" marT="18288" marB="18288" anchor="ctr">
                    <a:solidFill>
                      <a:srgbClr val="F4F6F8"/>
                    </a:solidFill>
                  </a:tcPr>
                </a:tc>
                <a:tc>
                  <a:txBody>
                    <a:bodyPr/>
                    <a:lstStyle/>
                    <a:p>
                      <a:r>
                        <a:rPr sz="1300">
                          <a:solidFill>
                            <a:srgbClr val="1F2937"/>
                          </a:solidFill>
                          <a:latin typeface="Calibri"/>
                        </a:rPr>
                        <a:t>Interno</a:t>
                      </a:r>
                    </a:p>
                  </a:txBody>
                  <a:tcPr marL="64008" marR="64008" marT="18288" marB="18288" anchor="ctr">
                    <a:solidFill>
                      <a:srgbClr val="F4F6F8"/>
                    </a:solidFill>
                  </a:tcPr>
                </a:tc>
                <a:tc>
                  <a:txBody>
                    <a:bodyPr/>
                    <a:lstStyle/>
                    <a:p>
                      <a:r>
                        <a:rPr sz="1300">
                          <a:solidFill>
                            <a:srgbClr val="1F2937"/>
                          </a:solidFill>
                          <a:latin typeface="Calibri"/>
                        </a:rPr>
                        <a:t>Atiende al comensal y toma el pedido</a:t>
                      </a:r>
                    </a:p>
                  </a:txBody>
                  <a:tcPr marL="64008" marR="64008" marT="18288" marB="18288" anchor="ctr">
                    <a:solidFill>
                      <a:srgbClr val="F4F6F8"/>
                    </a:solidFill>
                  </a:tcPr>
                </a:tc>
                <a:tc>
                  <a:txBody>
                    <a:bodyPr/>
                    <a:lstStyle/>
                    <a:p>
                      <a:r>
                        <a:rPr sz="1300">
                          <a:solidFill>
                            <a:srgbClr val="1F2937"/>
                          </a:solidFill>
                          <a:latin typeface="Calibri"/>
                        </a:rPr>
                        <a:t>Atención en local</a:t>
                      </a:r>
                    </a:p>
                  </a:txBody>
                  <a:tcPr marL="64008" marR="64008" marT="18288" marB="18288" anchor="ctr">
                    <a:solidFill>
                      <a:srgbClr val="F4F6F8"/>
                    </a:solidFill>
                  </a:tcPr>
                </a:tc>
              </a:tr>
              <a:tr h="475488">
                <a:tc>
                  <a:txBody>
                    <a:bodyPr/>
                    <a:lstStyle/>
                    <a:p>
                      <a:r>
                        <a:rPr sz="1300">
                          <a:solidFill>
                            <a:srgbClr val="1F2937"/>
                          </a:solidFill>
                          <a:latin typeface="Calibri"/>
                        </a:rPr>
                        <a:t>Chef / Cocinero</a:t>
                      </a:r>
                    </a:p>
                  </a:txBody>
                  <a:tcPr marL="64008" marR="64008" marT="18288" marB="18288" anchor="ctr">
                    <a:solidFill>
                      <a:srgbClr val="FFFFFF"/>
                    </a:solidFill>
                  </a:tcPr>
                </a:tc>
                <a:tc>
                  <a:txBody>
                    <a:bodyPr/>
                    <a:lstStyle/>
                    <a:p>
                      <a:r>
                        <a:rPr sz="1300">
                          <a:solidFill>
                            <a:srgbClr val="1F2937"/>
                          </a:solidFill>
                          <a:latin typeface="Calibri"/>
                        </a:rPr>
                        <a:t>Interno</a:t>
                      </a:r>
                    </a:p>
                  </a:txBody>
                  <a:tcPr marL="64008" marR="64008" marT="18288" marB="18288" anchor="ctr">
                    <a:solidFill>
                      <a:srgbClr val="FFFFFF"/>
                    </a:solidFill>
                  </a:tcPr>
                </a:tc>
                <a:tc>
                  <a:txBody>
                    <a:bodyPr/>
                    <a:lstStyle/>
                    <a:p>
                      <a:r>
                        <a:rPr sz="1300">
                          <a:solidFill>
                            <a:srgbClr val="1F2937"/>
                          </a:solidFill>
                          <a:latin typeface="Calibri"/>
                        </a:rPr>
                        <a:t>Prepara los platos</a:t>
                      </a:r>
                    </a:p>
                  </a:txBody>
                  <a:tcPr marL="64008" marR="64008" marT="18288" marB="18288" anchor="ctr">
                    <a:solidFill>
                      <a:srgbClr val="FFFFFF"/>
                    </a:solidFill>
                  </a:tcPr>
                </a:tc>
                <a:tc>
                  <a:txBody>
                    <a:bodyPr/>
                    <a:lstStyle/>
                    <a:p>
                      <a:r>
                        <a:rPr sz="1300">
                          <a:solidFill>
                            <a:srgbClr val="1F2937"/>
                          </a:solidFill>
                          <a:latin typeface="Calibri"/>
                        </a:rPr>
                        <a:t>Preparación, abastecimiento</a:t>
                      </a:r>
                    </a:p>
                  </a:txBody>
                  <a:tcPr marL="64008" marR="64008" marT="18288" marB="18288" anchor="ctr">
                    <a:solidFill>
                      <a:srgbClr val="FFFFFF"/>
                    </a:solidFill>
                  </a:tcPr>
                </a:tc>
              </a:tr>
              <a:tr h="475488">
                <a:tc>
                  <a:txBody>
                    <a:bodyPr/>
                    <a:lstStyle/>
                    <a:p>
                      <a:r>
                        <a:rPr sz="1300">
                          <a:solidFill>
                            <a:srgbClr val="1F2937"/>
                          </a:solidFill>
                          <a:latin typeface="Calibri"/>
                        </a:rPr>
                        <a:t>Cajero</a:t>
                      </a:r>
                    </a:p>
                  </a:txBody>
                  <a:tcPr marL="64008" marR="64008" marT="18288" marB="18288" anchor="ctr">
                    <a:solidFill>
                      <a:srgbClr val="F4F6F8"/>
                    </a:solidFill>
                  </a:tcPr>
                </a:tc>
                <a:tc>
                  <a:txBody>
                    <a:bodyPr/>
                    <a:lstStyle/>
                    <a:p>
                      <a:r>
                        <a:rPr sz="1300">
                          <a:solidFill>
                            <a:srgbClr val="1F2937"/>
                          </a:solidFill>
                          <a:latin typeface="Calibri"/>
                        </a:rPr>
                        <a:t>Interno</a:t>
                      </a:r>
                    </a:p>
                  </a:txBody>
                  <a:tcPr marL="64008" marR="64008" marT="18288" marB="18288" anchor="ctr">
                    <a:solidFill>
                      <a:srgbClr val="F4F6F8"/>
                    </a:solidFill>
                  </a:tcPr>
                </a:tc>
                <a:tc>
                  <a:txBody>
                    <a:bodyPr/>
                    <a:lstStyle/>
                    <a:p>
                      <a:r>
                        <a:rPr sz="1300">
                          <a:solidFill>
                            <a:srgbClr val="1F2937"/>
                          </a:solidFill>
                          <a:latin typeface="Calibri"/>
                        </a:rPr>
                        <a:t>Cobra y emite comprobantes</a:t>
                      </a:r>
                    </a:p>
                  </a:txBody>
                  <a:tcPr marL="64008" marR="64008" marT="18288" marB="18288" anchor="ctr">
                    <a:solidFill>
                      <a:srgbClr val="F4F6F8"/>
                    </a:solidFill>
                  </a:tcPr>
                </a:tc>
                <a:tc>
                  <a:txBody>
                    <a:bodyPr/>
                    <a:lstStyle/>
                    <a:p>
                      <a:r>
                        <a:rPr sz="1300">
                          <a:solidFill>
                            <a:srgbClr val="1F2937"/>
                          </a:solidFill>
                          <a:latin typeface="Calibri"/>
                        </a:rPr>
                        <a:t>Cobro y facturación</a:t>
                      </a:r>
                    </a:p>
                  </a:txBody>
                  <a:tcPr marL="64008" marR="64008" marT="18288" marB="18288" anchor="ctr">
                    <a:solidFill>
                      <a:srgbClr val="F4F6F8"/>
                    </a:solidFill>
                  </a:tcPr>
                </a:tc>
              </a:tr>
              <a:tr h="475488">
                <a:tc>
                  <a:txBody>
                    <a:bodyPr/>
                    <a:lstStyle/>
                    <a:p>
                      <a:r>
                        <a:rPr sz="1300">
                          <a:solidFill>
                            <a:srgbClr val="1F2937"/>
                          </a:solidFill>
                          <a:latin typeface="Calibri"/>
                        </a:rPr>
                        <a:t>Repartidor</a:t>
                      </a:r>
                    </a:p>
                  </a:txBody>
                  <a:tcPr marL="64008" marR="64008" marT="18288" marB="18288" anchor="ctr">
                    <a:solidFill>
                      <a:srgbClr val="FFFFFF"/>
                    </a:solidFill>
                  </a:tcPr>
                </a:tc>
                <a:tc>
                  <a:txBody>
                    <a:bodyPr/>
                    <a:lstStyle/>
                    <a:p>
                      <a:r>
                        <a:rPr sz="1300">
                          <a:solidFill>
                            <a:srgbClr val="1F2937"/>
                          </a:solidFill>
                          <a:latin typeface="Calibri"/>
                        </a:rPr>
                        <a:t>Externo</a:t>
                      </a:r>
                    </a:p>
                  </a:txBody>
                  <a:tcPr marL="64008" marR="64008" marT="18288" marB="18288" anchor="ctr">
                    <a:solidFill>
                      <a:srgbClr val="FFFFFF"/>
                    </a:solidFill>
                  </a:tcPr>
                </a:tc>
                <a:tc>
                  <a:txBody>
                    <a:bodyPr/>
                    <a:lstStyle/>
                    <a:p>
                      <a:r>
                        <a:rPr sz="1300">
                          <a:solidFill>
                            <a:srgbClr val="1F2937"/>
                          </a:solidFill>
                          <a:latin typeface="Calibri"/>
                        </a:rPr>
                        <a:t>Entrega los pedidos a domicilio</a:t>
                      </a:r>
                    </a:p>
                  </a:txBody>
                  <a:tcPr marL="64008" marR="64008" marT="18288" marB="18288" anchor="ctr">
                    <a:solidFill>
                      <a:srgbClr val="FFFFFF"/>
                    </a:solidFill>
                  </a:tcPr>
                </a:tc>
                <a:tc>
                  <a:txBody>
                    <a:bodyPr/>
                    <a:lstStyle/>
                    <a:p>
                      <a:r>
                        <a:rPr sz="1300">
                          <a:solidFill>
                            <a:srgbClr val="1F2937"/>
                          </a:solidFill>
                          <a:latin typeface="Calibri"/>
                        </a:rPr>
                        <a:t>Delivery</a:t>
                      </a:r>
                    </a:p>
                  </a:txBody>
                  <a:tcPr marL="64008" marR="64008" marT="18288" marB="18288" anchor="ctr">
                    <a:solidFill>
                      <a:srgbClr val="FFFFFF"/>
                    </a:solidFill>
                  </a:tcPr>
                </a:tc>
              </a:tr>
              <a:tr h="475488">
                <a:tc>
                  <a:txBody>
                    <a:bodyPr/>
                    <a:lstStyle/>
                    <a:p>
                      <a:r>
                        <a:rPr sz="1300">
                          <a:solidFill>
                            <a:srgbClr val="1F2937"/>
                          </a:solidFill>
                          <a:latin typeface="Calibri"/>
                        </a:rPr>
                        <a:t>Proveedor</a:t>
                      </a:r>
                    </a:p>
                  </a:txBody>
                  <a:tcPr marL="64008" marR="64008" marT="18288" marB="18288" anchor="ctr">
                    <a:solidFill>
                      <a:srgbClr val="F4F6F8"/>
                    </a:solidFill>
                  </a:tcPr>
                </a:tc>
                <a:tc>
                  <a:txBody>
                    <a:bodyPr/>
                    <a:lstStyle/>
                    <a:p>
                      <a:r>
                        <a:rPr sz="1300">
                          <a:solidFill>
                            <a:srgbClr val="1F2937"/>
                          </a:solidFill>
                          <a:latin typeface="Calibri"/>
                        </a:rPr>
                        <a:t>Externo</a:t>
                      </a:r>
                    </a:p>
                  </a:txBody>
                  <a:tcPr marL="64008" marR="64008" marT="18288" marB="18288" anchor="ctr">
                    <a:solidFill>
                      <a:srgbClr val="F4F6F8"/>
                    </a:solidFill>
                  </a:tcPr>
                </a:tc>
                <a:tc>
                  <a:txBody>
                    <a:bodyPr/>
                    <a:lstStyle/>
                    <a:p>
                      <a:r>
                        <a:rPr sz="1300">
                          <a:solidFill>
                            <a:srgbClr val="1F2937"/>
                          </a:solidFill>
                          <a:latin typeface="Calibri"/>
                        </a:rPr>
                        <a:t>Abastece de insumos a la cocina</a:t>
                      </a:r>
                    </a:p>
                  </a:txBody>
                  <a:tcPr marL="64008" marR="64008" marT="18288" marB="18288" anchor="ctr">
                    <a:solidFill>
                      <a:srgbClr val="F4F6F8"/>
                    </a:solidFill>
                  </a:tcPr>
                </a:tc>
                <a:tc>
                  <a:txBody>
                    <a:bodyPr/>
                    <a:lstStyle/>
                    <a:p>
                      <a:r>
                        <a:rPr sz="1300">
                          <a:solidFill>
                            <a:srgbClr val="1F2937"/>
                          </a:solidFill>
                          <a:latin typeface="Calibri"/>
                        </a:rPr>
                        <a:t>Abastecimiento</a:t>
                      </a:r>
                    </a:p>
                  </a:txBody>
                  <a:tcPr marL="64008" marR="64008" marT="18288" marB="18288" anchor="ctr">
                    <a:solidFill>
                      <a:srgbClr val="F4F6F8"/>
                    </a:solidFill>
                  </a:tcPr>
                </a:tc>
              </a:tr>
              <a:tr h="475488">
                <a:tc>
                  <a:txBody>
                    <a:bodyPr/>
                    <a:lstStyle/>
                    <a:p>
                      <a:r>
                        <a:rPr sz="1300">
                          <a:solidFill>
                            <a:srgbClr val="1F2937"/>
                          </a:solidFill>
                          <a:latin typeface="Calibri"/>
                        </a:rPr>
                        <a:t>Administrador</a:t>
                      </a:r>
                    </a:p>
                  </a:txBody>
                  <a:tcPr marL="64008" marR="64008" marT="18288" marB="18288" anchor="ctr">
                    <a:solidFill>
                      <a:srgbClr val="FFFFFF"/>
                    </a:solidFill>
                  </a:tcPr>
                </a:tc>
                <a:tc>
                  <a:txBody>
                    <a:bodyPr/>
                    <a:lstStyle/>
                    <a:p>
                      <a:r>
                        <a:rPr sz="1300">
                          <a:solidFill>
                            <a:srgbClr val="1F2937"/>
                          </a:solidFill>
                          <a:latin typeface="Calibri"/>
                        </a:rPr>
                        <a:t>Interno</a:t>
                      </a:r>
                    </a:p>
                  </a:txBody>
                  <a:tcPr marL="64008" marR="64008" marT="18288" marB="18288" anchor="ctr">
                    <a:solidFill>
                      <a:srgbClr val="FFFFFF"/>
                    </a:solidFill>
                  </a:tcPr>
                </a:tc>
                <a:tc>
                  <a:txBody>
                    <a:bodyPr/>
                    <a:lstStyle/>
                    <a:p>
                      <a:r>
                        <a:rPr sz="1300">
                          <a:solidFill>
                            <a:srgbClr val="1F2937"/>
                          </a:solidFill>
                          <a:latin typeface="Calibri"/>
                        </a:rPr>
                        <a:t>Gestiona la carta y los reportes</a:t>
                      </a:r>
                    </a:p>
                  </a:txBody>
                  <a:tcPr marL="64008" marR="64008" marT="18288" marB="18288" anchor="ctr">
                    <a:solidFill>
                      <a:srgbClr val="FFFFFF"/>
                    </a:solidFill>
                  </a:tcPr>
                </a:tc>
                <a:tc>
                  <a:txBody>
                    <a:bodyPr/>
                    <a:lstStyle/>
                    <a:p>
                      <a:r>
                        <a:rPr sz="1300">
                          <a:solidFill>
                            <a:srgbClr val="1F2937"/>
                          </a:solidFill>
                          <a:latin typeface="Calibri"/>
                        </a:rPr>
                        <a:t>Carta y reportes</a:t>
                      </a:r>
                    </a:p>
                  </a:txBody>
                  <a:tcPr marL="64008" marR="64008" marT="18288" marB="18288" anchor="ctr">
                    <a:solidFill>
                      <a:srgbClr val="FFFFFF"/>
                    </a:solidFill>
                  </a:tcPr>
                </a:tc>
              </a:tr>
            </a:tbl>
          </a:graphicData>
        </a:graphic>
      </p:graphicFrame>
      <p:sp>
        <p:nvSpPr>
          <p:cNvPr id="6" name="TextBox 5"/>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7" name="TextBox 6"/>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2. MODELADO DEL NEGOCIO</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Seis casos de uso del negocio, uno por cada resultado de valor</a:t>
            </a:r>
          </a:p>
        </p:txBody>
      </p:sp>
      <p:sp>
        <p:nvSpPr>
          <p:cNvPr id="5" name="Rectangle 4"/>
          <p:cNvSpPr/>
          <p:nvPr/>
        </p:nvSpPr>
        <p:spPr>
          <a:xfrm>
            <a:off x="2278871" y="1234439"/>
            <a:ext cx="7548912" cy="5020055"/>
          </a:xfrm>
          <a:prstGeom prst="rect">
            <a:avLst/>
          </a:prstGeom>
          <a:solidFill>
            <a:srgbClr val="FFFFFF"/>
          </a:solidFill>
          <a:ln w="13970">
            <a:solidFill>
              <a:srgbClr val="E8F0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_casos_uso_negocio.png"/>
          <p:cNvPicPr>
            <a:picLocks noChangeAspect="1"/>
          </p:cNvPicPr>
          <p:nvPr/>
        </p:nvPicPr>
        <p:blipFill>
          <a:blip r:embed="rId2"/>
          <a:stretch>
            <a:fillRect/>
          </a:stretch>
        </p:blipFill>
        <p:spPr>
          <a:xfrm>
            <a:off x="2342879" y="1298448"/>
            <a:ext cx="7420896" cy="4892040"/>
          </a:xfrm>
          <a:prstGeom prst="rect">
            <a:avLst/>
          </a:prstGeom>
        </p:spPr>
      </p:pic>
      <p:sp>
        <p:nvSpPr>
          <p:cNvPr id="7" name="TextBox 6"/>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8" name="TextBox 7"/>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2. MODELADO DEL NEGOCIO</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Nueve conceptos y sus relaciones forman el modelo de dominio</a:t>
            </a:r>
          </a:p>
        </p:txBody>
      </p:sp>
      <p:sp>
        <p:nvSpPr>
          <p:cNvPr id="5" name="Rectangle 4"/>
          <p:cNvSpPr/>
          <p:nvPr/>
        </p:nvSpPr>
        <p:spPr>
          <a:xfrm>
            <a:off x="557642" y="1280160"/>
            <a:ext cx="10991371" cy="4974336"/>
          </a:xfrm>
          <a:prstGeom prst="rect">
            <a:avLst/>
          </a:prstGeom>
          <a:solidFill>
            <a:srgbClr val="FFFFFF"/>
          </a:solidFill>
          <a:ln w="13970">
            <a:solidFill>
              <a:srgbClr val="E8F0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_modelo_dominio.png"/>
          <p:cNvPicPr>
            <a:picLocks noChangeAspect="1"/>
          </p:cNvPicPr>
          <p:nvPr/>
        </p:nvPicPr>
        <p:blipFill>
          <a:blip r:embed="rId2"/>
          <a:stretch>
            <a:fillRect/>
          </a:stretch>
        </p:blipFill>
        <p:spPr>
          <a:xfrm>
            <a:off x="621650" y="1344168"/>
            <a:ext cx="10863355" cy="4846320"/>
          </a:xfrm>
          <a:prstGeom prst="rect">
            <a:avLst/>
          </a:prstGeom>
        </p:spPr>
      </p:pic>
      <p:sp>
        <p:nvSpPr>
          <p:cNvPr id="7" name="TextBox 6"/>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8" name="TextBox 7"/>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2. MODELADO DEL NEGOCIO</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En el local, el mozo concentra el flujo hasta el cobro</a:t>
            </a:r>
          </a:p>
        </p:txBody>
      </p:sp>
      <p:sp>
        <p:nvSpPr>
          <p:cNvPr id="5" name="Rectangle 4"/>
          <p:cNvSpPr/>
          <p:nvPr/>
        </p:nvSpPr>
        <p:spPr>
          <a:xfrm>
            <a:off x="1297083" y="1188719"/>
            <a:ext cx="4026088" cy="5065775"/>
          </a:xfrm>
          <a:prstGeom prst="rect">
            <a:avLst/>
          </a:prstGeom>
          <a:solidFill>
            <a:srgbClr val="FFFFFF"/>
          </a:solidFill>
          <a:ln w="13970">
            <a:solidFill>
              <a:srgbClr val="E8F0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_actividades_local.png"/>
          <p:cNvPicPr>
            <a:picLocks noChangeAspect="1"/>
          </p:cNvPicPr>
          <p:nvPr/>
        </p:nvPicPr>
        <p:blipFill>
          <a:blip r:embed="rId2"/>
          <a:stretch>
            <a:fillRect/>
          </a:stretch>
        </p:blipFill>
        <p:spPr>
          <a:xfrm>
            <a:off x="1361091" y="1252728"/>
            <a:ext cx="3898072" cy="4937759"/>
          </a:xfrm>
          <a:prstGeom prst="rect">
            <a:avLst/>
          </a:prstGeom>
        </p:spPr>
      </p:pic>
      <p:sp>
        <p:nvSpPr>
          <p:cNvPr id="7" name="TextBox 6"/>
          <p:cNvSpPr txBox="1"/>
          <p:nvPr/>
        </p:nvSpPr>
        <p:spPr>
          <a:xfrm>
            <a:off x="6373368" y="1408176"/>
            <a:ext cx="4846320" cy="320040"/>
          </a:xfrm>
          <a:prstGeom prst="rect">
            <a:avLst/>
          </a:prstGeom>
          <a:noFill/>
        </p:spPr>
        <p:txBody>
          <a:bodyPr wrap="square" anchor="t" lIns="0" rIns="0" tIns="0" bIns="0">
            <a:spAutoFit/>
          </a:bodyPr>
          <a:lstStyle/>
          <a:p>
            <a:pPr algn="l">
              <a:spcAft>
                <a:spcPts val="600"/>
              </a:spcAft>
            </a:pPr>
            <a:r>
              <a:rPr sz="1500" b="1" i="0">
                <a:solidFill>
                  <a:srgbClr val="1F3A5F"/>
                </a:solidFill>
                <a:latin typeface="Calibri"/>
              </a:rPr>
              <a:t>Particiones de responsabilidad</a:t>
            </a:r>
          </a:p>
        </p:txBody>
      </p:sp>
      <p:sp>
        <p:nvSpPr>
          <p:cNvPr id="8" name="TextBox 7"/>
          <p:cNvSpPr txBox="1"/>
          <p:nvPr/>
        </p:nvSpPr>
        <p:spPr>
          <a:xfrm>
            <a:off x="6373368" y="1847088"/>
            <a:ext cx="4846320" cy="3931920"/>
          </a:xfrm>
          <a:prstGeom prst="rect">
            <a:avLst/>
          </a:prstGeom>
          <a:noFill/>
        </p:spPr>
        <p:txBody>
          <a:bodyPr wrap="square" lIns="0" rIns="0" tIns="0" bIns="0">
            <a:spAutoFit/>
          </a:bodyPr>
          <a:lstStyle/>
          <a:p>
            <a:pPr>
              <a:lnSpc>
                <a:spcPct val="112000"/>
              </a:lnSpc>
              <a:spcAft>
                <a:spcPts val="1000"/>
              </a:spcAft>
            </a:pPr>
            <a:r>
              <a:rPr sz="1300">
                <a:solidFill>
                  <a:srgbClr val="1F2937"/>
                </a:solidFill>
                <a:latin typeface="Calibri"/>
              </a:rPr>
              <a:t>▪  Cuatro carriles: Cliente, Mozo, Cocina y Cajero</a:t>
            </a:r>
          </a:p>
          <a:p>
            <a:pPr>
              <a:lnSpc>
                <a:spcPct val="112000"/>
              </a:lnSpc>
              <a:spcAft>
                <a:spcPts val="1000"/>
              </a:spcAft>
            </a:pPr>
            <a:r>
              <a:rPr sz="1300">
                <a:solidFill>
                  <a:srgbClr val="1F2937"/>
                </a:solidFill>
                <a:latin typeface="Calibri"/>
              </a:rPr>
              <a:t>▪  El flujo inicia con la llegada del cliente y la asignación de mesa</a:t>
            </a:r>
          </a:p>
          <a:p>
            <a:pPr>
              <a:lnSpc>
                <a:spcPct val="112000"/>
              </a:lnSpc>
              <a:spcAft>
                <a:spcPts val="1000"/>
              </a:spcAft>
            </a:pPr>
            <a:r>
              <a:rPr sz="1300">
                <a:solidFill>
                  <a:srgbClr val="1F2937"/>
                </a:solidFill>
                <a:latin typeface="Calibri"/>
              </a:rPr>
              <a:t>▪  El mozo toma el pedido y lo envía a cocina</a:t>
            </a:r>
          </a:p>
          <a:p>
            <a:pPr>
              <a:lnSpc>
                <a:spcPct val="112000"/>
              </a:lnSpc>
              <a:spcAft>
                <a:spcPts val="1000"/>
              </a:spcAft>
            </a:pPr>
            <a:r>
              <a:rPr sz="1300">
                <a:solidFill>
                  <a:srgbClr val="1F2937"/>
                </a:solidFill>
                <a:latin typeface="Calibri"/>
              </a:rPr>
              <a:t>▪  Cocina prepara; el mozo sirve y luego solicita la cuenta</a:t>
            </a:r>
          </a:p>
          <a:p>
            <a:pPr>
              <a:lnSpc>
                <a:spcPct val="112000"/>
              </a:lnSpc>
              <a:spcAft>
                <a:spcPts val="1000"/>
              </a:spcAft>
            </a:pPr>
            <a:r>
              <a:rPr sz="1300">
                <a:solidFill>
                  <a:srgbClr val="1F2937"/>
                </a:solidFill>
                <a:latin typeface="Calibri"/>
              </a:rPr>
              <a:t>▪  La decisión «¿pedido completo?» devuelve el flujo a la toma del pedido si el cliente quiere agregar algo</a:t>
            </a:r>
          </a:p>
          <a:p>
            <a:pPr>
              <a:lnSpc>
                <a:spcPct val="112000"/>
              </a:lnSpc>
              <a:spcAft>
                <a:spcPts val="1000"/>
              </a:spcAft>
            </a:pPr>
            <a:r>
              <a:rPr sz="1300">
                <a:solidFill>
                  <a:srgbClr val="1F2937"/>
                </a:solidFill>
                <a:latin typeface="Calibri"/>
              </a:rPr>
              <a:t>▪  Cierra el cajero: emite la boleta, cobra y libera la mesa</a:t>
            </a:r>
          </a:p>
        </p:txBody>
      </p:sp>
      <p:sp>
        <p:nvSpPr>
          <p:cNvPr id="9" name="TextBox 8"/>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10" name="TextBox 9"/>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2. MODELADO DEL NEGOCIO</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En línea, dos decisiones controlan stock y pago</a:t>
            </a:r>
          </a:p>
        </p:txBody>
      </p:sp>
      <p:sp>
        <p:nvSpPr>
          <p:cNvPr id="5" name="Rectangle 4"/>
          <p:cNvSpPr/>
          <p:nvPr/>
        </p:nvSpPr>
        <p:spPr>
          <a:xfrm>
            <a:off x="1020408" y="1188719"/>
            <a:ext cx="4579438" cy="5065775"/>
          </a:xfrm>
          <a:prstGeom prst="rect">
            <a:avLst/>
          </a:prstGeom>
          <a:solidFill>
            <a:srgbClr val="FFFFFF"/>
          </a:solidFill>
          <a:ln w="13970">
            <a:solidFill>
              <a:srgbClr val="E8F0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_actividades_online.png"/>
          <p:cNvPicPr>
            <a:picLocks noChangeAspect="1"/>
          </p:cNvPicPr>
          <p:nvPr/>
        </p:nvPicPr>
        <p:blipFill>
          <a:blip r:embed="rId2"/>
          <a:stretch>
            <a:fillRect/>
          </a:stretch>
        </p:blipFill>
        <p:spPr>
          <a:xfrm>
            <a:off x="1084416" y="1252728"/>
            <a:ext cx="4451422" cy="4937759"/>
          </a:xfrm>
          <a:prstGeom prst="rect">
            <a:avLst/>
          </a:prstGeom>
        </p:spPr>
      </p:pic>
      <p:sp>
        <p:nvSpPr>
          <p:cNvPr id="7" name="TextBox 6"/>
          <p:cNvSpPr txBox="1"/>
          <p:nvPr/>
        </p:nvSpPr>
        <p:spPr>
          <a:xfrm>
            <a:off x="6373368" y="1408176"/>
            <a:ext cx="4846320" cy="320040"/>
          </a:xfrm>
          <a:prstGeom prst="rect">
            <a:avLst/>
          </a:prstGeom>
          <a:noFill/>
        </p:spPr>
        <p:txBody>
          <a:bodyPr wrap="square" anchor="t" lIns="0" rIns="0" tIns="0" bIns="0">
            <a:spAutoFit/>
          </a:bodyPr>
          <a:lstStyle/>
          <a:p>
            <a:pPr algn="l">
              <a:spcAft>
                <a:spcPts val="600"/>
              </a:spcAft>
            </a:pPr>
            <a:r>
              <a:rPr sz="1500" b="1" i="0">
                <a:solidFill>
                  <a:srgbClr val="1F3A5F"/>
                </a:solidFill>
                <a:latin typeface="Calibri"/>
              </a:rPr>
              <a:t>Particiones de responsabilidad</a:t>
            </a:r>
          </a:p>
        </p:txBody>
      </p:sp>
      <p:sp>
        <p:nvSpPr>
          <p:cNvPr id="8" name="TextBox 7"/>
          <p:cNvSpPr txBox="1"/>
          <p:nvPr/>
        </p:nvSpPr>
        <p:spPr>
          <a:xfrm>
            <a:off x="6373368" y="1847088"/>
            <a:ext cx="4846320" cy="3931920"/>
          </a:xfrm>
          <a:prstGeom prst="rect">
            <a:avLst/>
          </a:prstGeom>
          <a:noFill/>
        </p:spPr>
        <p:txBody>
          <a:bodyPr wrap="square" lIns="0" rIns="0" tIns="0" bIns="0">
            <a:spAutoFit/>
          </a:bodyPr>
          <a:lstStyle/>
          <a:p>
            <a:pPr>
              <a:lnSpc>
                <a:spcPct val="112000"/>
              </a:lnSpc>
              <a:spcAft>
                <a:spcPts val="900"/>
              </a:spcAft>
            </a:pPr>
            <a:r>
              <a:rPr sz="1250">
                <a:solidFill>
                  <a:srgbClr val="1F2937"/>
                </a:solidFill>
                <a:latin typeface="Calibri"/>
              </a:rPr>
              <a:t>▪  Cinco carriles: Cliente, Tienda virtual, Pasarela de pago, Cocina y Repartidor</a:t>
            </a:r>
          </a:p>
          <a:p>
            <a:pPr>
              <a:lnSpc>
                <a:spcPct val="112000"/>
              </a:lnSpc>
              <a:spcAft>
                <a:spcPts val="900"/>
              </a:spcAft>
            </a:pPr>
            <a:r>
              <a:rPr sz="1250">
                <a:solidFill>
                  <a:srgbClr val="1F2937"/>
                </a:solidFill>
                <a:latin typeface="Calibri"/>
              </a:rPr>
              <a:t>▪  El cliente consulta la carta, selecciona platos y confirma</a:t>
            </a:r>
          </a:p>
          <a:p>
            <a:pPr>
              <a:lnSpc>
                <a:spcPct val="112000"/>
              </a:lnSpc>
              <a:spcAft>
                <a:spcPts val="900"/>
              </a:spcAft>
            </a:pPr>
            <a:r>
              <a:rPr sz="1250">
                <a:solidFill>
                  <a:srgbClr val="1F2937"/>
                </a:solidFill>
                <a:latin typeface="Calibri"/>
              </a:rPr>
              <a:t>▪  Decisión 1 — ¿hay stock disponible? Si no, se notifica y vuelve a la carta</a:t>
            </a:r>
          </a:p>
          <a:p>
            <a:pPr>
              <a:lnSpc>
                <a:spcPct val="112000"/>
              </a:lnSpc>
              <a:spcAft>
                <a:spcPts val="900"/>
              </a:spcAft>
            </a:pPr>
            <a:r>
              <a:rPr sz="1250">
                <a:solidFill>
                  <a:srgbClr val="1F2937"/>
                </a:solidFill>
                <a:latin typeface="Calibri"/>
              </a:rPr>
              <a:t>▪  El pago se procesa en la pasarela externa</a:t>
            </a:r>
          </a:p>
          <a:p>
            <a:pPr>
              <a:lnSpc>
                <a:spcPct val="112000"/>
              </a:lnSpc>
              <a:spcAft>
                <a:spcPts val="900"/>
              </a:spcAft>
            </a:pPr>
            <a:r>
              <a:rPr sz="1250">
                <a:solidFill>
                  <a:srgbClr val="1F2937"/>
                </a:solidFill>
                <a:latin typeface="Calibri"/>
              </a:rPr>
              <a:t>▪  Decisión 2 — ¿pago aprobado? Si no, se notifica el rechazo y se puede reintentar con otro medio</a:t>
            </a:r>
          </a:p>
          <a:p>
            <a:pPr>
              <a:lnSpc>
                <a:spcPct val="112000"/>
              </a:lnSpc>
              <a:spcAft>
                <a:spcPts val="900"/>
              </a:spcAft>
            </a:pPr>
            <a:r>
              <a:rPr sz="1250">
                <a:solidFill>
                  <a:srgbClr val="1F2937"/>
                </a:solidFill>
                <a:latin typeface="Calibri"/>
              </a:rPr>
              <a:t>▪  Cierra cocina con la preparación y el repartidor con la entrega</a:t>
            </a:r>
          </a:p>
        </p:txBody>
      </p:sp>
      <p:sp>
        <p:nvSpPr>
          <p:cNvPr id="9" name="TextBox 8"/>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10" name="TextBox 9"/>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3. REQUERIMIENTOS DE SOFTWARE</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El sistema se comunica con 6 usuarios y 2 sistemas externos</a:t>
            </a:r>
          </a:p>
        </p:txBody>
      </p:sp>
      <p:sp>
        <p:nvSpPr>
          <p:cNvPr id="5" name="Rectangle 4"/>
          <p:cNvSpPr/>
          <p:nvPr/>
        </p:nvSpPr>
        <p:spPr>
          <a:xfrm>
            <a:off x="2411270" y="1234439"/>
            <a:ext cx="7284114" cy="5020055"/>
          </a:xfrm>
          <a:prstGeom prst="rect">
            <a:avLst/>
          </a:prstGeom>
          <a:solidFill>
            <a:srgbClr val="FFFFFF"/>
          </a:solidFill>
          <a:ln w="13970">
            <a:solidFill>
              <a:srgbClr val="E8F0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5_diagrama_contexto.png"/>
          <p:cNvPicPr>
            <a:picLocks noChangeAspect="1"/>
          </p:cNvPicPr>
          <p:nvPr/>
        </p:nvPicPr>
        <p:blipFill>
          <a:blip r:embed="rId2"/>
          <a:stretch>
            <a:fillRect/>
          </a:stretch>
        </p:blipFill>
        <p:spPr>
          <a:xfrm>
            <a:off x="2475278" y="1298448"/>
            <a:ext cx="7156098" cy="4892040"/>
          </a:xfrm>
          <a:prstGeom prst="rect">
            <a:avLst/>
          </a:prstGeom>
        </p:spPr>
      </p:pic>
      <p:sp>
        <p:nvSpPr>
          <p:cNvPr id="7" name="TextBox 6"/>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8" name="TextBox 7"/>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3. REQUERIMIENTOS DE SOFTWARE</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Diez requerimientos funcionales, del RF-01 al RF-10</a:t>
            </a:r>
          </a:p>
        </p:txBody>
      </p:sp>
      <p:graphicFrame>
        <p:nvGraphicFramePr>
          <p:cNvPr id="5" name="Table 4"/>
          <p:cNvGraphicFramePr>
            <a:graphicFrameLocks noGrp="1"/>
          </p:cNvGraphicFramePr>
          <p:nvPr/>
        </p:nvGraphicFramePr>
        <p:xfrm>
          <a:off x="566928" y="1316736"/>
          <a:ext cx="10881360" cy="4224528"/>
        </p:xfrm>
        <a:graphic>
          <a:graphicData uri="http://schemas.openxmlformats.org/drawingml/2006/table">
            <a:tbl>
              <a:tblPr firstRow="1" bandRow="1">
                <a:tableStyleId>{5C22544A-7EE6-4342-B048-85BDC9FD1C3A}</a:tableStyleId>
              </a:tblPr>
              <a:tblGrid>
                <a:gridCol w="3627120"/>
                <a:gridCol w="3627120"/>
                <a:gridCol w="3627120"/>
              </a:tblGrid>
              <a:tr h="384048">
                <a:tc>
                  <a:txBody>
                    <a:bodyPr/>
                    <a:lstStyle/>
                    <a:p>
                      <a:r>
                        <a:rPr sz="1250" b="1">
                          <a:solidFill>
                            <a:srgbClr val="FFFFFF"/>
                          </a:solidFill>
                          <a:latin typeface="Calibri"/>
                        </a:rPr>
                        <a:t>ID</a:t>
                      </a:r>
                    </a:p>
                  </a:txBody>
                  <a:tcPr marL="64008" marR="64008" marT="18288" marB="18288" anchor="ctr">
                    <a:solidFill>
                      <a:srgbClr val="1F3A5F"/>
                    </a:solidFill>
                  </a:tcPr>
                </a:tc>
                <a:tc>
                  <a:txBody>
                    <a:bodyPr/>
                    <a:lstStyle/>
                    <a:p>
                      <a:r>
                        <a:rPr sz="1250" b="1">
                          <a:solidFill>
                            <a:srgbClr val="FFFFFF"/>
                          </a:solidFill>
                          <a:latin typeface="Calibri"/>
                        </a:rPr>
                        <a:t>Requerimiento</a:t>
                      </a:r>
                    </a:p>
                  </a:txBody>
                  <a:tcPr marL="64008" marR="64008" marT="18288" marB="18288" anchor="ctr">
                    <a:solidFill>
                      <a:srgbClr val="1F3A5F"/>
                    </a:solidFill>
                  </a:tcPr>
                </a:tc>
                <a:tc>
                  <a:txBody>
                    <a:bodyPr/>
                    <a:lstStyle/>
                    <a:p>
                      <a:r>
                        <a:rPr sz="1250" b="1">
                          <a:solidFill>
                            <a:srgbClr val="FFFFFF"/>
                          </a:solidFill>
                          <a:latin typeface="Calibri"/>
                        </a:rPr>
                        <a:t>Qué debe permitir el sistema</a:t>
                      </a:r>
                    </a:p>
                  </a:txBody>
                  <a:tcPr marL="64008" marR="64008" marT="18288" marB="18288" anchor="ctr">
                    <a:solidFill>
                      <a:srgbClr val="1F3A5F"/>
                    </a:solidFill>
                  </a:tcPr>
                </a:tc>
              </a:tr>
              <a:tr h="384048">
                <a:tc>
                  <a:txBody>
                    <a:bodyPr/>
                    <a:lstStyle/>
                    <a:p>
                      <a:r>
                        <a:rPr sz="1250">
                          <a:solidFill>
                            <a:srgbClr val="1F2937"/>
                          </a:solidFill>
                          <a:latin typeface="Calibri"/>
                        </a:rPr>
                        <a:t>RF-01</a:t>
                      </a:r>
                    </a:p>
                  </a:txBody>
                  <a:tcPr marL="64008" marR="64008" marT="18288" marB="18288" anchor="ctr">
                    <a:solidFill>
                      <a:srgbClr val="FFFFFF"/>
                    </a:solidFill>
                  </a:tcPr>
                </a:tc>
                <a:tc>
                  <a:txBody>
                    <a:bodyPr/>
                    <a:lstStyle/>
                    <a:p>
                      <a:r>
                        <a:rPr sz="1250">
                          <a:solidFill>
                            <a:srgbClr val="1F2937"/>
                          </a:solidFill>
                          <a:latin typeface="Calibri"/>
                        </a:rPr>
                        <a:t>Gestionar la carta</a:t>
                      </a:r>
                    </a:p>
                  </a:txBody>
                  <a:tcPr marL="64008" marR="64008" marT="18288" marB="18288" anchor="ctr">
                    <a:solidFill>
                      <a:srgbClr val="FFFFFF"/>
                    </a:solidFill>
                  </a:tcPr>
                </a:tc>
                <a:tc>
                  <a:txBody>
                    <a:bodyPr/>
                    <a:lstStyle/>
                    <a:p>
                      <a:r>
                        <a:rPr sz="1250">
                          <a:solidFill>
                            <a:srgbClr val="1F2937"/>
                          </a:solidFill>
                          <a:latin typeface="Calibri"/>
                        </a:rPr>
                        <a:t>Registrar, modificar y habilitar platos</a:t>
                      </a:r>
                    </a:p>
                  </a:txBody>
                  <a:tcPr marL="64008" marR="64008" marT="18288" marB="18288" anchor="ctr">
                    <a:solidFill>
                      <a:srgbClr val="FFFFFF"/>
                    </a:solidFill>
                  </a:tcPr>
                </a:tc>
              </a:tr>
              <a:tr h="384048">
                <a:tc>
                  <a:txBody>
                    <a:bodyPr/>
                    <a:lstStyle/>
                    <a:p>
                      <a:r>
                        <a:rPr sz="1250">
                          <a:solidFill>
                            <a:srgbClr val="1F2937"/>
                          </a:solidFill>
                          <a:latin typeface="Calibri"/>
                        </a:rPr>
                        <a:t>RF-02</a:t>
                      </a:r>
                    </a:p>
                  </a:txBody>
                  <a:tcPr marL="64008" marR="64008" marT="18288" marB="18288" anchor="ctr">
                    <a:solidFill>
                      <a:srgbClr val="F4F6F8"/>
                    </a:solidFill>
                  </a:tcPr>
                </a:tc>
                <a:tc>
                  <a:txBody>
                    <a:bodyPr/>
                    <a:lstStyle/>
                    <a:p>
                      <a:r>
                        <a:rPr sz="1250">
                          <a:solidFill>
                            <a:srgbClr val="1F2937"/>
                          </a:solidFill>
                          <a:latin typeface="Calibri"/>
                        </a:rPr>
                        <a:t>Registrar pedido en local</a:t>
                      </a:r>
                    </a:p>
                  </a:txBody>
                  <a:tcPr marL="64008" marR="64008" marT="18288" marB="18288" anchor="ctr">
                    <a:solidFill>
                      <a:srgbClr val="F4F6F8"/>
                    </a:solidFill>
                  </a:tcPr>
                </a:tc>
                <a:tc>
                  <a:txBody>
                    <a:bodyPr/>
                    <a:lstStyle/>
                    <a:p>
                      <a:r>
                        <a:rPr sz="1250">
                          <a:solidFill>
                            <a:srgbClr val="1F2937"/>
                          </a:solidFill>
                          <a:latin typeface="Calibri"/>
                        </a:rPr>
                        <a:t>El mozo registra el pedido de una mesa</a:t>
                      </a:r>
                    </a:p>
                  </a:txBody>
                  <a:tcPr marL="64008" marR="64008" marT="18288" marB="18288" anchor="ctr">
                    <a:solidFill>
                      <a:srgbClr val="F4F6F8"/>
                    </a:solidFill>
                  </a:tcPr>
                </a:tc>
              </a:tr>
              <a:tr h="384048">
                <a:tc>
                  <a:txBody>
                    <a:bodyPr/>
                    <a:lstStyle/>
                    <a:p>
                      <a:r>
                        <a:rPr sz="1250">
                          <a:solidFill>
                            <a:srgbClr val="1F2937"/>
                          </a:solidFill>
                          <a:latin typeface="Calibri"/>
                        </a:rPr>
                        <a:t>RF-03</a:t>
                      </a:r>
                    </a:p>
                  </a:txBody>
                  <a:tcPr marL="64008" marR="64008" marT="18288" marB="18288" anchor="ctr">
                    <a:solidFill>
                      <a:srgbClr val="FFFFFF"/>
                    </a:solidFill>
                  </a:tcPr>
                </a:tc>
                <a:tc>
                  <a:txBody>
                    <a:bodyPr/>
                    <a:lstStyle/>
                    <a:p>
                      <a:r>
                        <a:rPr sz="1250">
                          <a:solidFill>
                            <a:srgbClr val="1F2937"/>
                          </a:solidFill>
                          <a:latin typeface="Calibri"/>
                        </a:rPr>
                        <a:t>Registrar pedido en línea</a:t>
                      </a:r>
                    </a:p>
                  </a:txBody>
                  <a:tcPr marL="64008" marR="64008" marT="18288" marB="18288" anchor="ctr">
                    <a:solidFill>
                      <a:srgbClr val="FFFFFF"/>
                    </a:solidFill>
                  </a:tcPr>
                </a:tc>
                <a:tc>
                  <a:txBody>
                    <a:bodyPr/>
                    <a:lstStyle/>
                    <a:p>
                      <a:r>
                        <a:rPr sz="1250">
                          <a:solidFill>
                            <a:srgbClr val="1F2937"/>
                          </a:solidFill>
                          <a:latin typeface="Calibri"/>
                        </a:rPr>
                        <a:t>Armar el pedido, ver stock y confirmar</a:t>
                      </a:r>
                    </a:p>
                  </a:txBody>
                  <a:tcPr marL="64008" marR="64008" marT="18288" marB="18288" anchor="ctr">
                    <a:solidFill>
                      <a:srgbClr val="FFFFFF"/>
                    </a:solidFill>
                  </a:tcPr>
                </a:tc>
              </a:tr>
              <a:tr h="384048">
                <a:tc>
                  <a:txBody>
                    <a:bodyPr/>
                    <a:lstStyle/>
                    <a:p>
                      <a:r>
                        <a:rPr sz="1250">
                          <a:solidFill>
                            <a:srgbClr val="1F2937"/>
                          </a:solidFill>
                          <a:latin typeface="Calibri"/>
                        </a:rPr>
                        <a:t>RF-04</a:t>
                      </a:r>
                    </a:p>
                  </a:txBody>
                  <a:tcPr marL="64008" marR="64008" marT="18288" marB="18288" anchor="ctr">
                    <a:solidFill>
                      <a:srgbClr val="F4F6F8"/>
                    </a:solidFill>
                  </a:tcPr>
                </a:tc>
                <a:tc>
                  <a:txBody>
                    <a:bodyPr/>
                    <a:lstStyle/>
                    <a:p>
                      <a:r>
                        <a:rPr sz="1250">
                          <a:solidFill>
                            <a:srgbClr val="1F2937"/>
                          </a:solidFill>
                          <a:latin typeface="Calibri"/>
                        </a:rPr>
                        <a:t>Estado del pedido</a:t>
                      </a:r>
                    </a:p>
                  </a:txBody>
                  <a:tcPr marL="64008" marR="64008" marT="18288" marB="18288" anchor="ctr">
                    <a:solidFill>
                      <a:srgbClr val="F4F6F8"/>
                    </a:solidFill>
                  </a:tcPr>
                </a:tc>
                <a:tc>
                  <a:txBody>
                    <a:bodyPr/>
                    <a:lstStyle/>
                    <a:p>
                      <a:r>
                        <a:rPr sz="1250">
                          <a:solidFill>
                            <a:srgbClr val="1F2937"/>
                          </a:solidFill>
                          <a:latin typeface="Calibri"/>
                        </a:rPr>
                        <a:t>Actualizar y consultar el estado</a:t>
                      </a:r>
                    </a:p>
                  </a:txBody>
                  <a:tcPr marL="64008" marR="64008" marT="18288" marB="18288" anchor="ctr">
                    <a:solidFill>
                      <a:srgbClr val="F4F6F8"/>
                    </a:solidFill>
                  </a:tcPr>
                </a:tc>
              </a:tr>
              <a:tr h="384048">
                <a:tc>
                  <a:txBody>
                    <a:bodyPr/>
                    <a:lstStyle/>
                    <a:p>
                      <a:r>
                        <a:rPr sz="1250">
                          <a:solidFill>
                            <a:srgbClr val="1F2937"/>
                          </a:solidFill>
                          <a:latin typeface="Calibri"/>
                        </a:rPr>
                        <a:t>RF-05</a:t>
                      </a:r>
                    </a:p>
                  </a:txBody>
                  <a:tcPr marL="64008" marR="64008" marT="18288" marB="18288" anchor="ctr">
                    <a:solidFill>
                      <a:srgbClr val="FFFFFF"/>
                    </a:solidFill>
                  </a:tcPr>
                </a:tc>
                <a:tc>
                  <a:txBody>
                    <a:bodyPr/>
                    <a:lstStyle/>
                    <a:p>
                      <a:r>
                        <a:rPr sz="1250">
                          <a:solidFill>
                            <a:srgbClr val="1F2937"/>
                          </a:solidFill>
                          <a:latin typeface="Calibri"/>
                        </a:rPr>
                        <a:t>Procesar pagos</a:t>
                      </a:r>
                    </a:p>
                  </a:txBody>
                  <a:tcPr marL="64008" marR="64008" marT="18288" marB="18288" anchor="ctr">
                    <a:solidFill>
                      <a:srgbClr val="FFFFFF"/>
                    </a:solidFill>
                  </a:tcPr>
                </a:tc>
                <a:tc>
                  <a:txBody>
                    <a:bodyPr/>
                    <a:lstStyle/>
                    <a:p>
                      <a:r>
                        <a:rPr sz="1250">
                          <a:solidFill>
                            <a:srgbClr val="1F2937"/>
                          </a:solidFill>
                          <a:latin typeface="Calibri"/>
                        </a:rPr>
                        <a:t>Integración con pasarela de pago</a:t>
                      </a:r>
                    </a:p>
                  </a:txBody>
                  <a:tcPr marL="64008" marR="64008" marT="18288" marB="18288" anchor="ctr">
                    <a:solidFill>
                      <a:srgbClr val="FFFFFF"/>
                    </a:solidFill>
                  </a:tcPr>
                </a:tc>
              </a:tr>
              <a:tr h="384048">
                <a:tc>
                  <a:txBody>
                    <a:bodyPr/>
                    <a:lstStyle/>
                    <a:p>
                      <a:r>
                        <a:rPr sz="1250">
                          <a:solidFill>
                            <a:srgbClr val="1F2937"/>
                          </a:solidFill>
                          <a:latin typeface="Calibri"/>
                        </a:rPr>
                        <a:t>RF-06</a:t>
                      </a:r>
                    </a:p>
                  </a:txBody>
                  <a:tcPr marL="64008" marR="64008" marT="18288" marB="18288" anchor="ctr">
                    <a:solidFill>
                      <a:srgbClr val="F4F6F8"/>
                    </a:solidFill>
                  </a:tcPr>
                </a:tc>
                <a:tc>
                  <a:txBody>
                    <a:bodyPr/>
                    <a:lstStyle/>
                    <a:p>
                      <a:r>
                        <a:rPr sz="1250">
                          <a:solidFill>
                            <a:srgbClr val="1F2937"/>
                          </a:solidFill>
                          <a:latin typeface="Calibri"/>
                        </a:rPr>
                        <a:t>Entrega a domicilio</a:t>
                      </a:r>
                    </a:p>
                  </a:txBody>
                  <a:tcPr marL="64008" marR="64008" marT="18288" marB="18288" anchor="ctr">
                    <a:solidFill>
                      <a:srgbClr val="F4F6F8"/>
                    </a:solidFill>
                  </a:tcPr>
                </a:tc>
                <a:tc>
                  <a:txBody>
                    <a:bodyPr/>
                    <a:lstStyle/>
                    <a:p>
                      <a:r>
                        <a:rPr sz="1250">
                          <a:solidFill>
                            <a:srgbClr val="1F2937"/>
                          </a:solidFill>
                          <a:latin typeface="Calibri"/>
                        </a:rPr>
                        <a:t>Asignar repartidor y confirmar entrega</a:t>
                      </a:r>
                    </a:p>
                  </a:txBody>
                  <a:tcPr marL="64008" marR="64008" marT="18288" marB="18288" anchor="ctr">
                    <a:solidFill>
                      <a:srgbClr val="F4F6F8"/>
                    </a:solidFill>
                  </a:tcPr>
                </a:tc>
              </a:tr>
              <a:tr h="384048">
                <a:tc>
                  <a:txBody>
                    <a:bodyPr/>
                    <a:lstStyle/>
                    <a:p>
                      <a:r>
                        <a:rPr sz="1250">
                          <a:solidFill>
                            <a:srgbClr val="1F2937"/>
                          </a:solidFill>
                          <a:latin typeface="Calibri"/>
                        </a:rPr>
                        <a:t>RF-07</a:t>
                      </a:r>
                    </a:p>
                  </a:txBody>
                  <a:tcPr marL="64008" marR="64008" marT="18288" marB="18288" anchor="ctr">
                    <a:solidFill>
                      <a:srgbClr val="FFFFFF"/>
                    </a:solidFill>
                  </a:tcPr>
                </a:tc>
                <a:tc>
                  <a:txBody>
                    <a:bodyPr/>
                    <a:lstStyle/>
                    <a:p>
                      <a:r>
                        <a:rPr sz="1250">
                          <a:solidFill>
                            <a:srgbClr val="1F2937"/>
                          </a:solidFill>
                          <a:latin typeface="Calibri"/>
                        </a:rPr>
                        <a:t>Reservas de mesa</a:t>
                      </a:r>
                    </a:p>
                  </a:txBody>
                  <a:tcPr marL="64008" marR="64008" marT="18288" marB="18288" anchor="ctr">
                    <a:solidFill>
                      <a:srgbClr val="FFFFFF"/>
                    </a:solidFill>
                  </a:tcPr>
                </a:tc>
                <a:tc>
                  <a:txBody>
                    <a:bodyPr/>
                    <a:lstStyle/>
                    <a:p>
                      <a:r>
                        <a:rPr sz="1250">
                          <a:solidFill>
                            <a:srgbClr val="1F2937"/>
                          </a:solidFill>
                          <a:latin typeface="Calibri"/>
                        </a:rPr>
                        <a:t>Reservar indicando fecha, hora y personas</a:t>
                      </a:r>
                    </a:p>
                  </a:txBody>
                  <a:tcPr marL="64008" marR="64008" marT="18288" marB="18288" anchor="ctr">
                    <a:solidFill>
                      <a:srgbClr val="FFFFFF"/>
                    </a:solidFill>
                  </a:tcPr>
                </a:tc>
              </a:tr>
              <a:tr h="384048">
                <a:tc>
                  <a:txBody>
                    <a:bodyPr/>
                    <a:lstStyle/>
                    <a:p>
                      <a:r>
                        <a:rPr sz="1250">
                          <a:solidFill>
                            <a:srgbClr val="1F2937"/>
                          </a:solidFill>
                          <a:latin typeface="Calibri"/>
                        </a:rPr>
                        <a:t>RF-08</a:t>
                      </a:r>
                    </a:p>
                  </a:txBody>
                  <a:tcPr marL="64008" marR="64008" marT="18288" marB="18288" anchor="ctr">
                    <a:solidFill>
                      <a:srgbClr val="F4F6F8"/>
                    </a:solidFill>
                  </a:tcPr>
                </a:tc>
                <a:tc>
                  <a:txBody>
                    <a:bodyPr/>
                    <a:lstStyle/>
                    <a:p>
                      <a:r>
                        <a:rPr sz="1250">
                          <a:solidFill>
                            <a:srgbClr val="1F2937"/>
                          </a:solidFill>
                          <a:latin typeface="Calibri"/>
                        </a:rPr>
                        <a:t>Emitir comprobantes</a:t>
                      </a:r>
                    </a:p>
                  </a:txBody>
                  <a:tcPr marL="64008" marR="64008" marT="18288" marB="18288" anchor="ctr">
                    <a:solidFill>
                      <a:srgbClr val="F4F6F8"/>
                    </a:solidFill>
                  </a:tcPr>
                </a:tc>
                <a:tc>
                  <a:txBody>
                    <a:bodyPr/>
                    <a:lstStyle/>
                    <a:p>
                      <a:r>
                        <a:rPr sz="1250">
                          <a:solidFill>
                            <a:srgbClr val="1F2937"/>
                          </a:solidFill>
                          <a:latin typeface="Calibri"/>
                        </a:rPr>
                        <a:t>Boletas y facturas electrónicas</a:t>
                      </a:r>
                    </a:p>
                  </a:txBody>
                  <a:tcPr marL="64008" marR="64008" marT="18288" marB="18288" anchor="ctr">
                    <a:solidFill>
                      <a:srgbClr val="F4F6F8"/>
                    </a:solidFill>
                  </a:tcPr>
                </a:tc>
              </a:tr>
              <a:tr h="384048">
                <a:tc>
                  <a:txBody>
                    <a:bodyPr/>
                    <a:lstStyle/>
                    <a:p>
                      <a:r>
                        <a:rPr sz="1250">
                          <a:solidFill>
                            <a:srgbClr val="1F2937"/>
                          </a:solidFill>
                          <a:latin typeface="Calibri"/>
                        </a:rPr>
                        <a:t>RF-09</a:t>
                      </a:r>
                    </a:p>
                  </a:txBody>
                  <a:tcPr marL="64008" marR="64008" marT="18288" marB="18288" anchor="ctr">
                    <a:solidFill>
                      <a:srgbClr val="FFFFFF"/>
                    </a:solidFill>
                  </a:tcPr>
                </a:tc>
                <a:tc>
                  <a:txBody>
                    <a:bodyPr/>
                    <a:lstStyle/>
                    <a:p>
                      <a:r>
                        <a:rPr sz="1250">
                          <a:solidFill>
                            <a:srgbClr val="1F2937"/>
                          </a:solidFill>
                          <a:latin typeface="Calibri"/>
                        </a:rPr>
                        <a:t>Reportes de ventas</a:t>
                      </a:r>
                    </a:p>
                  </a:txBody>
                  <a:tcPr marL="64008" marR="64008" marT="18288" marB="18288" anchor="ctr">
                    <a:solidFill>
                      <a:srgbClr val="FFFFFF"/>
                    </a:solidFill>
                  </a:tcPr>
                </a:tc>
                <a:tc>
                  <a:txBody>
                    <a:bodyPr/>
                    <a:lstStyle/>
                    <a:p>
                      <a:r>
                        <a:rPr sz="1250">
                          <a:solidFill>
                            <a:srgbClr val="1F2937"/>
                          </a:solidFill>
                          <a:latin typeface="Calibri"/>
                        </a:rPr>
                        <a:t>Reportes diarios y mensuales</a:t>
                      </a:r>
                    </a:p>
                  </a:txBody>
                  <a:tcPr marL="64008" marR="64008" marT="18288" marB="18288" anchor="ctr">
                    <a:solidFill>
                      <a:srgbClr val="FFFFFF"/>
                    </a:solidFill>
                  </a:tcPr>
                </a:tc>
              </a:tr>
              <a:tr h="384048">
                <a:tc>
                  <a:txBody>
                    <a:bodyPr/>
                    <a:lstStyle/>
                    <a:p>
                      <a:r>
                        <a:rPr sz="1250">
                          <a:solidFill>
                            <a:srgbClr val="1F2937"/>
                          </a:solidFill>
                          <a:latin typeface="Calibri"/>
                        </a:rPr>
                        <a:t>RF-10</a:t>
                      </a:r>
                    </a:p>
                  </a:txBody>
                  <a:tcPr marL="64008" marR="64008" marT="18288" marB="18288" anchor="ctr">
                    <a:solidFill>
                      <a:srgbClr val="F4F6F8"/>
                    </a:solidFill>
                  </a:tcPr>
                </a:tc>
                <a:tc>
                  <a:txBody>
                    <a:bodyPr/>
                    <a:lstStyle/>
                    <a:p>
                      <a:r>
                        <a:rPr sz="1250">
                          <a:solidFill>
                            <a:srgbClr val="1F2937"/>
                          </a:solidFill>
                          <a:latin typeface="Calibri"/>
                        </a:rPr>
                        <a:t>Inventario y compras</a:t>
                      </a:r>
                    </a:p>
                  </a:txBody>
                  <a:tcPr marL="64008" marR="64008" marT="18288" marB="18288" anchor="ctr">
                    <a:solidFill>
                      <a:srgbClr val="F4F6F8"/>
                    </a:solidFill>
                  </a:tcPr>
                </a:tc>
                <a:tc>
                  <a:txBody>
                    <a:bodyPr/>
                    <a:lstStyle/>
                    <a:p>
                      <a:r>
                        <a:rPr sz="1250">
                          <a:solidFill>
                            <a:srgbClr val="1F2937"/>
                          </a:solidFill>
                          <a:latin typeface="Calibri"/>
                        </a:rPr>
                        <a:t>Entradas, salidas y órdenes de compra</a:t>
                      </a:r>
                    </a:p>
                  </a:txBody>
                  <a:tcPr marL="64008" marR="64008" marT="18288" marB="18288" anchor="ctr">
                    <a:solidFill>
                      <a:srgbClr val="F4F6F8"/>
                    </a:solidFill>
                  </a:tcPr>
                </a:tc>
              </a:tr>
            </a:tbl>
          </a:graphicData>
        </a:graphic>
      </p:graphicFrame>
      <p:sp>
        <p:nvSpPr>
          <p:cNvPr id="6" name="TextBox 5"/>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7" name="TextBox 6"/>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3. REQUERIMIENTOS DE SOFTWARE</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Seis requerimientos no funcionales que fijan la calidad</a:t>
            </a:r>
          </a:p>
        </p:txBody>
      </p:sp>
      <p:graphicFrame>
        <p:nvGraphicFramePr>
          <p:cNvPr id="5" name="Table 4"/>
          <p:cNvGraphicFramePr>
            <a:graphicFrameLocks noGrp="1"/>
          </p:cNvGraphicFramePr>
          <p:nvPr/>
        </p:nvGraphicFramePr>
        <p:xfrm>
          <a:off x="566928" y="1527048"/>
          <a:ext cx="10881360" cy="3712464"/>
        </p:xfrm>
        <a:graphic>
          <a:graphicData uri="http://schemas.openxmlformats.org/drawingml/2006/table">
            <a:tbl>
              <a:tblPr firstRow="1" bandRow="1">
                <a:tableStyleId>{5C22544A-7EE6-4342-B048-85BDC9FD1C3A}</a:tableStyleId>
              </a:tblPr>
              <a:tblGrid>
                <a:gridCol w="3627120"/>
                <a:gridCol w="3627120"/>
                <a:gridCol w="3627120"/>
              </a:tblGrid>
              <a:tr h="530352">
                <a:tc>
                  <a:txBody>
                    <a:bodyPr/>
                    <a:lstStyle/>
                    <a:p>
                      <a:r>
                        <a:rPr sz="1350" b="1">
                          <a:solidFill>
                            <a:srgbClr val="FFFFFF"/>
                          </a:solidFill>
                          <a:latin typeface="Calibri"/>
                        </a:rPr>
                        <a:t>ID</a:t>
                      </a:r>
                    </a:p>
                  </a:txBody>
                  <a:tcPr marL="64008" marR="64008" marT="18288" marB="18288" anchor="ctr">
                    <a:solidFill>
                      <a:srgbClr val="1F3A5F"/>
                    </a:solidFill>
                  </a:tcPr>
                </a:tc>
                <a:tc>
                  <a:txBody>
                    <a:bodyPr/>
                    <a:lstStyle/>
                    <a:p>
                      <a:r>
                        <a:rPr sz="1350" b="1">
                          <a:solidFill>
                            <a:srgbClr val="FFFFFF"/>
                          </a:solidFill>
                          <a:latin typeface="Calibri"/>
                        </a:rPr>
                        <a:t>Categoría</a:t>
                      </a:r>
                    </a:p>
                  </a:txBody>
                  <a:tcPr marL="64008" marR="64008" marT="18288" marB="18288" anchor="ctr">
                    <a:solidFill>
                      <a:srgbClr val="1F3A5F"/>
                    </a:solidFill>
                  </a:tcPr>
                </a:tc>
                <a:tc>
                  <a:txBody>
                    <a:bodyPr/>
                    <a:lstStyle/>
                    <a:p>
                      <a:r>
                        <a:rPr sz="1350" b="1">
                          <a:solidFill>
                            <a:srgbClr val="FFFFFF"/>
                          </a:solidFill>
                          <a:latin typeface="Calibri"/>
                        </a:rPr>
                        <a:t>Criterio medible</a:t>
                      </a:r>
                    </a:p>
                  </a:txBody>
                  <a:tcPr marL="64008" marR="64008" marT="18288" marB="18288" anchor="ctr">
                    <a:solidFill>
                      <a:srgbClr val="1F3A5F"/>
                    </a:solidFill>
                  </a:tcPr>
                </a:tc>
              </a:tr>
              <a:tr h="530352">
                <a:tc>
                  <a:txBody>
                    <a:bodyPr/>
                    <a:lstStyle/>
                    <a:p>
                      <a:r>
                        <a:rPr sz="1350">
                          <a:solidFill>
                            <a:srgbClr val="1F2937"/>
                          </a:solidFill>
                          <a:latin typeface="Calibri"/>
                        </a:rPr>
                        <a:t>RNF-01</a:t>
                      </a:r>
                    </a:p>
                  </a:txBody>
                  <a:tcPr marL="64008" marR="64008" marT="18288" marB="18288" anchor="ctr">
                    <a:solidFill>
                      <a:srgbClr val="FFFFFF"/>
                    </a:solidFill>
                  </a:tcPr>
                </a:tc>
                <a:tc>
                  <a:txBody>
                    <a:bodyPr/>
                    <a:lstStyle/>
                    <a:p>
                      <a:r>
                        <a:rPr sz="1350">
                          <a:solidFill>
                            <a:srgbClr val="1F2937"/>
                          </a:solidFill>
                          <a:latin typeface="Calibri"/>
                        </a:rPr>
                        <a:t>Rendimiento</a:t>
                      </a:r>
                    </a:p>
                  </a:txBody>
                  <a:tcPr marL="64008" marR="64008" marT="18288" marB="18288" anchor="ctr">
                    <a:solidFill>
                      <a:srgbClr val="FFFFFF"/>
                    </a:solidFill>
                  </a:tcPr>
                </a:tc>
                <a:tc>
                  <a:txBody>
                    <a:bodyPr/>
                    <a:lstStyle/>
                    <a:p>
                      <a:r>
                        <a:rPr sz="1350">
                          <a:solidFill>
                            <a:srgbClr val="1F2937"/>
                          </a:solidFill>
                          <a:latin typeface="Calibri"/>
                        </a:rPr>
                        <a:t>Respuesta en máximo 3 segundos bajo carga normal</a:t>
                      </a:r>
                    </a:p>
                  </a:txBody>
                  <a:tcPr marL="64008" marR="64008" marT="18288" marB="18288" anchor="ctr">
                    <a:solidFill>
                      <a:srgbClr val="FFFFFF"/>
                    </a:solidFill>
                  </a:tcPr>
                </a:tc>
              </a:tr>
              <a:tr h="530352">
                <a:tc>
                  <a:txBody>
                    <a:bodyPr/>
                    <a:lstStyle/>
                    <a:p>
                      <a:r>
                        <a:rPr sz="1350">
                          <a:solidFill>
                            <a:srgbClr val="1F2937"/>
                          </a:solidFill>
                          <a:latin typeface="Calibri"/>
                        </a:rPr>
                        <a:t>RNF-02</a:t>
                      </a:r>
                    </a:p>
                  </a:txBody>
                  <a:tcPr marL="64008" marR="64008" marT="18288" marB="18288" anchor="ctr">
                    <a:solidFill>
                      <a:srgbClr val="F4F6F8"/>
                    </a:solidFill>
                  </a:tcPr>
                </a:tc>
                <a:tc>
                  <a:txBody>
                    <a:bodyPr/>
                    <a:lstStyle/>
                    <a:p>
                      <a:r>
                        <a:rPr sz="1350">
                          <a:solidFill>
                            <a:srgbClr val="1F2937"/>
                          </a:solidFill>
                          <a:latin typeface="Calibri"/>
                        </a:rPr>
                        <a:t>Disponibilidad</a:t>
                      </a:r>
                    </a:p>
                  </a:txBody>
                  <a:tcPr marL="64008" marR="64008" marT="18288" marB="18288" anchor="ctr">
                    <a:solidFill>
                      <a:srgbClr val="F4F6F8"/>
                    </a:solidFill>
                  </a:tcPr>
                </a:tc>
                <a:tc>
                  <a:txBody>
                    <a:bodyPr/>
                    <a:lstStyle/>
                    <a:p>
                      <a:r>
                        <a:rPr sz="1350">
                          <a:solidFill>
                            <a:srgbClr val="1F2937"/>
                          </a:solidFill>
                          <a:latin typeface="Calibri"/>
                        </a:rPr>
                        <a:t>99,5 % del tiempo en horario de operación</a:t>
                      </a:r>
                    </a:p>
                  </a:txBody>
                  <a:tcPr marL="64008" marR="64008" marT="18288" marB="18288" anchor="ctr">
                    <a:solidFill>
                      <a:srgbClr val="F4F6F8"/>
                    </a:solidFill>
                  </a:tcPr>
                </a:tc>
              </a:tr>
              <a:tr h="530352">
                <a:tc>
                  <a:txBody>
                    <a:bodyPr/>
                    <a:lstStyle/>
                    <a:p>
                      <a:r>
                        <a:rPr sz="1350">
                          <a:solidFill>
                            <a:srgbClr val="1F2937"/>
                          </a:solidFill>
                          <a:latin typeface="Calibri"/>
                        </a:rPr>
                        <a:t>RNF-03</a:t>
                      </a:r>
                    </a:p>
                  </a:txBody>
                  <a:tcPr marL="64008" marR="64008" marT="18288" marB="18288" anchor="ctr">
                    <a:solidFill>
                      <a:srgbClr val="FFFFFF"/>
                    </a:solidFill>
                  </a:tcPr>
                </a:tc>
                <a:tc>
                  <a:txBody>
                    <a:bodyPr/>
                    <a:lstStyle/>
                    <a:p>
                      <a:r>
                        <a:rPr sz="1350">
                          <a:solidFill>
                            <a:srgbClr val="1F2937"/>
                          </a:solidFill>
                          <a:latin typeface="Calibri"/>
                        </a:rPr>
                        <a:t>Seguridad</a:t>
                      </a:r>
                    </a:p>
                  </a:txBody>
                  <a:tcPr marL="64008" marR="64008" marT="18288" marB="18288" anchor="ctr">
                    <a:solidFill>
                      <a:srgbClr val="FFFFFF"/>
                    </a:solidFill>
                  </a:tcPr>
                </a:tc>
                <a:tc>
                  <a:txBody>
                    <a:bodyPr/>
                    <a:lstStyle/>
                    <a:p>
                      <a:r>
                        <a:rPr sz="1350">
                          <a:solidFill>
                            <a:srgbClr val="1F2937"/>
                          </a:solidFill>
                          <a:latin typeface="Calibri"/>
                        </a:rPr>
                        <a:t>Autenticación y cifrado TLS 1.2 o superior</a:t>
                      </a:r>
                    </a:p>
                  </a:txBody>
                  <a:tcPr marL="64008" marR="64008" marT="18288" marB="18288" anchor="ctr">
                    <a:solidFill>
                      <a:srgbClr val="FFFFFF"/>
                    </a:solidFill>
                  </a:tcPr>
                </a:tc>
              </a:tr>
              <a:tr h="530352">
                <a:tc>
                  <a:txBody>
                    <a:bodyPr/>
                    <a:lstStyle/>
                    <a:p>
                      <a:r>
                        <a:rPr sz="1350">
                          <a:solidFill>
                            <a:srgbClr val="1F2937"/>
                          </a:solidFill>
                          <a:latin typeface="Calibri"/>
                        </a:rPr>
                        <a:t>RNF-04</a:t>
                      </a:r>
                    </a:p>
                  </a:txBody>
                  <a:tcPr marL="64008" marR="64008" marT="18288" marB="18288" anchor="ctr">
                    <a:solidFill>
                      <a:srgbClr val="F4F6F8"/>
                    </a:solidFill>
                  </a:tcPr>
                </a:tc>
                <a:tc>
                  <a:txBody>
                    <a:bodyPr/>
                    <a:lstStyle/>
                    <a:p>
                      <a:r>
                        <a:rPr sz="1350">
                          <a:solidFill>
                            <a:srgbClr val="1F2937"/>
                          </a:solidFill>
                          <a:latin typeface="Calibri"/>
                        </a:rPr>
                        <a:t>Usabilidad</a:t>
                      </a:r>
                    </a:p>
                  </a:txBody>
                  <a:tcPr marL="64008" marR="64008" marT="18288" marB="18288" anchor="ctr">
                    <a:solidFill>
                      <a:srgbClr val="F4F6F8"/>
                    </a:solidFill>
                  </a:tcPr>
                </a:tc>
                <a:tc>
                  <a:txBody>
                    <a:bodyPr/>
                    <a:lstStyle/>
                    <a:p>
                      <a:r>
                        <a:rPr sz="1350">
                          <a:solidFill>
                            <a:srgbClr val="1F2937"/>
                          </a:solidFill>
                          <a:latin typeface="Calibri"/>
                        </a:rPr>
                        <a:t>Pedido completo en menos de 5 minutos</a:t>
                      </a:r>
                    </a:p>
                  </a:txBody>
                  <a:tcPr marL="64008" marR="64008" marT="18288" marB="18288" anchor="ctr">
                    <a:solidFill>
                      <a:srgbClr val="F4F6F8"/>
                    </a:solidFill>
                  </a:tcPr>
                </a:tc>
              </a:tr>
              <a:tr h="530352">
                <a:tc>
                  <a:txBody>
                    <a:bodyPr/>
                    <a:lstStyle/>
                    <a:p>
                      <a:r>
                        <a:rPr sz="1350">
                          <a:solidFill>
                            <a:srgbClr val="1F2937"/>
                          </a:solidFill>
                          <a:latin typeface="Calibri"/>
                        </a:rPr>
                        <a:t>RNF-05</a:t>
                      </a:r>
                    </a:p>
                  </a:txBody>
                  <a:tcPr marL="64008" marR="64008" marT="18288" marB="18288" anchor="ctr">
                    <a:solidFill>
                      <a:srgbClr val="FFFFFF"/>
                    </a:solidFill>
                  </a:tcPr>
                </a:tc>
                <a:tc>
                  <a:txBody>
                    <a:bodyPr/>
                    <a:lstStyle/>
                    <a:p>
                      <a:r>
                        <a:rPr sz="1350">
                          <a:solidFill>
                            <a:srgbClr val="1F2937"/>
                          </a:solidFill>
                          <a:latin typeface="Calibri"/>
                        </a:rPr>
                        <a:t>Escalabilidad</a:t>
                      </a:r>
                    </a:p>
                  </a:txBody>
                  <a:tcPr marL="64008" marR="64008" marT="18288" marB="18288" anchor="ctr">
                    <a:solidFill>
                      <a:srgbClr val="FFFFFF"/>
                    </a:solidFill>
                  </a:tcPr>
                </a:tc>
                <a:tc>
                  <a:txBody>
                    <a:bodyPr/>
                    <a:lstStyle/>
                    <a:p>
                      <a:r>
                        <a:rPr sz="1350">
                          <a:solidFill>
                            <a:srgbClr val="1F2937"/>
                          </a:solidFill>
                          <a:latin typeface="Calibri"/>
                        </a:rPr>
                        <a:t>500 usuarios concurrentes sin degradación</a:t>
                      </a:r>
                    </a:p>
                  </a:txBody>
                  <a:tcPr marL="64008" marR="64008" marT="18288" marB="18288" anchor="ctr">
                    <a:solidFill>
                      <a:srgbClr val="FFFFFF"/>
                    </a:solidFill>
                  </a:tcPr>
                </a:tc>
              </a:tr>
              <a:tr h="530352">
                <a:tc>
                  <a:txBody>
                    <a:bodyPr/>
                    <a:lstStyle/>
                    <a:p>
                      <a:r>
                        <a:rPr sz="1350">
                          <a:solidFill>
                            <a:srgbClr val="1F2937"/>
                          </a:solidFill>
                          <a:latin typeface="Calibri"/>
                        </a:rPr>
                        <a:t>RNF-06</a:t>
                      </a:r>
                    </a:p>
                  </a:txBody>
                  <a:tcPr marL="64008" marR="64008" marT="18288" marB="18288" anchor="ctr">
                    <a:solidFill>
                      <a:srgbClr val="F4F6F8"/>
                    </a:solidFill>
                  </a:tcPr>
                </a:tc>
                <a:tc>
                  <a:txBody>
                    <a:bodyPr/>
                    <a:lstStyle/>
                    <a:p>
                      <a:r>
                        <a:rPr sz="1350">
                          <a:solidFill>
                            <a:srgbClr val="1F2937"/>
                          </a:solidFill>
                          <a:latin typeface="Calibri"/>
                        </a:rPr>
                        <a:t>Compatibilidad</a:t>
                      </a:r>
                    </a:p>
                  </a:txBody>
                  <a:tcPr marL="64008" marR="64008" marT="18288" marB="18288" anchor="ctr">
                    <a:solidFill>
                      <a:srgbClr val="F4F6F8"/>
                    </a:solidFill>
                  </a:tcPr>
                </a:tc>
                <a:tc>
                  <a:txBody>
                    <a:bodyPr/>
                    <a:lstStyle/>
                    <a:p>
                      <a:r>
                        <a:rPr sz="1350">
                          <a:solidFill>
                            <a:srgbClr val="1F2937"/>
                          </a:solidFill>
                          <a:latin typeface="Calibri"/>
                        </a:rPr>
                        <a:t>Navegadores principales y móviles</a:t>
                      </a:r>
                    </a:p>
                  </a:txBody>
                  <a:tcPr marL="64008" marR="64008" marT="18288" marB="18288" anchor="ctr">
                    <a:solidFill>
                      <a:srgbClr val="F4F6F8"/>
                    </a:solidFill>
                  </a:tcPr>
                </a:tc>
              </a:tr>
            </a:tbl>
          </a:graphicData>
        </a:graphic>
      </p:graphicFrame>
      <p:sp>
        <p:nvSpPr>
          <p:cNvPr id="6" name="TextBox 5"/>
          <p:cNvSpPr txBox="1"/>
          <p:nvPr/>
        </p:nvSpPr>
        <p:spPr>
          <a:xfrm>
            <a:off x="612648" y="5806440"/>
            <a:ext cx="10881360" cy="457200"/>
          </a:xfrm>
          <a:prstGeom prst="rect">
            <a:avLst/>
          </a:prstGeom>
          <a:noFill/>
        </p:spPr>
        <p:txBody>
          <a:bodyPr wrap="square" anchor="t" lIns="0" rIns="0" tIns="0" bIns="0">
            <a:spAutoFit/>
          </a:bodyPr>
          <a:lstStyle/>
          <a:p>
            <a:pPr algn="l">
              <a:spcAft>
                <a:spcPts val="600"/>
              </a:spcAft>
            </a:pPr>
            <a:r>
              <a:rPr sz="1250" b="0" i="1">
                <a:solidFill>
                  <a:srgbClr val="6B7280"/>
                </a:solidFill>
                <a:latin typeface="Calibri"/>
              </a:rPr>
              <a:t>Restricciones del proyecto: Ley N.º 29733 de Protección de Datos Personales, infraestructura en la nube y plazo del cronograma.</a:t>
            </a:r>
          </a:p>
        </p:txBody>
      </p:sp>
      <p:sp>
        <p:nvSpPr>
          <p:cNvPr id="7" name="TextBox 6"/>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8" name="TextBox 7"/>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3. REQUERIMIENTOS DE SOFTWARE</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El equipo se ubica en nivel 2 (REQM) con prácticas iniciales de RD</a:t>
            </a:r>
          </a:p>
        </p:txBody>
      </p:sp>
      <p:sp>
        <p:nvSpPr>
          <p:cNvPr id="5" name="Rounded Rectangle 4"/>
          <p:cNvSpPr/>
          <p:nvPr/>
        </p:nvSpPr>
        <p:spPr>
          <a:xfrm>
            <a:off x="566928" y="1344168"/>
            <a:ext cx="10881360" cy="1170432"/>
          </a:xfrm>
          <a:prstGeom prst="roundRect">
            <a:avLst>
              <a:gd name="adj" fmla="val 8000"/>
            </a:avLst>
          </a:prstGeom>
          <a:solidFill>
            <a:srgbClr val="F4F6F8"/>
          </a:solidFill>
          <a:ln w="1397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463040"/>
            <a:ext cx="10424160" cy="310896"/>
          </a:xfrm>
          <a:prstGeom prst="rect">
            <a:avLst/>
          </a:prstGeom>
          <a:noFill/>
        </p:spPr>
        <p:txBody>
          <a:bodyPr wrap="square" anchor="t" lIns="0" rIns="0" tIns="0" bIns="0">
            <a:spAutoFit/>
          </a:bodyPr>
          <a:lstStyle/>
          <a:p>
            <a:pPr algn="l">
              <a:spcAft>
                <a:spcPts val="600"/>
              </a:spcAft>
            </a:pPr>
            <a:r>
              <a:rPr sz="1500" b="1" i="0">
                <a:solidFill>
                  <a:srgbClr val="1F3A5F"/>
                </a:solidFill>
                <a:latin typeface="Calibri"/>
              </a:rPr>
              <a:t>Nivel 2 · REQM — Gestión de Requerimientos</a:t>
            </a:r>
          </a:p>
        </p:txBody>
      </p:sp>
      <p:sp>
        <p:nvSpPr>
          <p:cNvPr id="7" name="TextBox 6"/>
          <p:cNvSpPr txBox="1"/>
          <p:nvPr/>
        </p:nvSpPr>
        <p:spPr>
          <a:xfrm>
            <a:off x="786384" y="1801368"/>
            <a:ext cx="10424160" cy="640080"/>
          </a:xfrm>
          <a:prstGeom prst="rect">
            <a:avLst/>
          </a:prstGeom>
          <a:noFill/>
        </p:spPr>
        <p:txBody>
          <a:bodyPr wrap="square" anchor="t" lIns="0" rIns="0" tIns="0" bIns="0">
            <a:spAutoFit/>
          </a:bodyPr>
          <a:lstStyle/>
          <a:p>
            <a:pPr algn="l">
              <a:spcAft>
                <a:spcPts val="600"/>
              </a:spcAft>
            </a:pPr>
            <a:r>
              <a:rPr sz="1250" b="0" i="0">
                <a:solidFill>
                  <a:srgbClr val="1F2937"/>
                </a:solidFill>
                <a:latin typeface="Calibri"/>
              </a:rPr>
              <a:t>Los requerimientos están documentados, clasificados y controlados. Se definió un procedimiento de cambio: toda modificación se registra, analiza y aprueba antes de incorporarse.</a:t>
            </a:r>
          </a:p>
        </p:txBody>
      </p:sp>
      <p:sp>
        <p:nvSpPr>
          <p:cNvPr id="8" name="Rounded Rectangle 7"/>
          <p:cNvSpPr/>
          <p:nvPr/>
        </p:nvSpPr>
        <p:spPr>
          <a:xfrm>
            <a:off x="566928" y="2679191"/>
            <a:ext cx="10881360" cy="1170432"/>
          </a:xfrm>
          <a:prstGeom prst="roundRect">
            <a:avLst>
              <a:gd name="adj" fmla="val 8000"/>
            </a:avLst>
          </a:prstGeom>
          <a:solidFill>
            <a:srgbClr val="F4F6F8"/>
          </a:solidFill>
          <a:ln w="13970">
            <a:solidFill>
              <a:srgbClr val="3F7D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798063"/>
            <a:ext cx="10424160" cy="310896"/>
          </a:xfrm>
          <a:prstGeom prst="rect">
            <a:avLst/>
          </a:prstGeom>
          <a:noFill/>
        </p:spPr>
        <p:txBody>
          <a:bodyPr wrap="square" anchor="t" lIns="0" rIns="0" tIns="0" bIns="0">
            <a:spAutoFit/>
          </a:bodyPr>
          <a:lstStyle/>
          <a:p>
            <a:pPr algn="l">
              <a:spcAft>
                <a:spcPts val="600"/>
              </a:spcAft>
            </a:pPr>
            <a:r>
              <a:rPr sz="1500" b="1" i="0">
                <a:solidFill>
                  <a:srgbClr val="3F7D5A"/>
                </a:solidFill>
                <a:latin typeface="Calibri"/>
              </a:rPr>
              <a:t>Nivel 3 · RD — Desarrollo de Requerimientos (prácticas iniciales)</a:t>
            </a:r>
          </a:p>
        </p:txBody>
      </p:sp>
      <p:sp>
        <p:nvSpPr>
          <p:cNvPr id="10" name="TextBox 9"/>
          <p:cNvSpPr txBox="1"/>
          <p:nvPr/>
        </p:nvSpPr>
        <p:spPr>
          <a:xfrm>
            <a:off x="786384" y="3136391"/>
            <a:ext cx="10424160" cy="640080"/>
          </a:xfrm>
          <a:prstGeom prst="rect">
            <a:avLst/>
          </a:prstGeom>
          <a:noFill/>
        </p:spPr>
        <p:txBody>
          <a:bodyPr wrap="square" anchor="t" lIns="0" rIns="0" tIns="0" bIns="0">
            <a:spAutoFit/>
          </a:bodyPr>
          <a:lstStyle/>
          <a:p>
            <a:pPr algn="l">
              <a:spcAft>
                <a:spcPts val="600"/>
              </a:spcAft>
            </a:pPr>
            <a:r>
              <a:rPr sz="1250" b="0" i="0">
                <a:solidFill>
                  <a:srgbClr val="1F2937"/>
                </a:solidFill>
                <a:latin typeface="Calibri"/>
              </a:rPr>
              <a:t>Se obtienen requerimientos a partir de las necesidades de los stakeholders y se descomponen en requisitos del sistema y de componentes.</a:t>
            </a:r>
          </a:p>
        </p:txBody>
      </p:sp>
      <p:sp>
        <p:nvSpPr>
          <p:cNvPr id="11" name="TextBox 10"/>
          <p:cNvSpPr txBox="1"/>
          <p:nvPr/>
        </p:nvSpPr>
        <p:spPr>
          <a:xfrm>
            <a:off x="612648" y="4032503"/>
            <a:ext cx="10881360" cy="320040"/>
          </a:xfrm>
          <a:prstGeom prst="rect">
            <a:avLst/>
          </a:prstGeom>
          <a:noFill/>
        </p:spPr>
        <p:txBody>
          <a:bodyPr wrap="square" anchor="t" lIns="0" rIns="0" tIns="0" bIns="0">
            <a:spAutoFit/>
          </a:bodyPr>
          <a:lstStyle/>
          <a:p>
            <a:pPr algn="l">
              <a:spcAft>
                <a:spcPts val="600"/>
              </a:spcAft>
            </a:pPr>
            <a:r>
              <a:rPr sz="1450" b="1" i="0">
                <a:solidFill>
                  <a:srgbClr val="1F3A5F"/>
                </a:solidFill>
                <a:latin typeface="Calibri"/>
              </a:rPr>
              <a:t>Trazabilidad necesidad → RF → caso de uso → componente</a:t>
            </a:r>
          </a:p>
        </p:txBody>
      </p:sp>
      <p:graphicFrame>
        <p:nvGraphicFramePr>
          <p:cNvPr id="12" name="Table 11"/>
          <p:cNvGraphicFramePr>
            <a:graphicFrameLocks noGrp="1"/>
          </p:cNvGraphicFramePr>
          <p:nvPr/>
        </p:nvGraphicFramePr>
        <p:xfrm>
          <a:off x="566928" y="4398264"/>
          <a:ext cx="10881360" cy="1810512"/>
        </p:xfrm>
        <a:graphic>
          <a:graphicData uri="http://schemas.openxmlformats.org/drawingml/2006/table">
            <a:tbl>
              <a:tblPr firstRow="1" bandRow="1">
                <a:tableStyleId>{5C22544A-7EE6-4342-B048-85BDC9FD1C3A}</a:tableStyleId>
              </a:tblPr>
              <a:tblGrid>
                <a:gridCol w="2720340"/>
                <a:gridCol w="2720340"/>
                <a:gridCol w="2720340"/>
                <a:gridCol w="2720340"/>
              </a:tblGrid>
              <a:tr h="301752">
                <a:tc>
                  <a:txBody>
                    <a:bodyPr/>
                    <a:lstStyle/>
                    <a:p>
                      <a:r>
                        <a:rPr sz="1150" b="1">
                          <a:solidFill>
                            <a:srgbClr val="FFFFFF"/>
                          </a:solidFill>
                          <a:latin typeface="Calibri"/>
                        </a:rPr>
                        <a:t>Necesidad del negocio</a:t>
                      </a:r>
                    </a:p>
                  </a:txBody>
                  <a:tcPr marL="64008" marR="64008" marT="18288" marB="18288" anchor="ctr">
                    <a:solidFill>
                      <a:srgbClr val="1F3A5F"/>
                    </a:solidFill>
                  </a:tcPr>
                </a:tc>
                <a:tc>
                  <a:txBody>
                    <a:bodyPr/>
                    <a:lstStyle/>
                    <a:p>
                      <a:r>
                        <a:rPr sz="1150" b="1">
                          <a:solidFill>
                            <a:srgbClr val="FFFFFF"/>
                          </a:solidFill>
                          <a:latin typeface="Calibri"/>
                        </a:rPr>
                        <a:t>RF</a:t>
                      </a:r>
                    </a:p>
                  </a:txBody>
                  <a:tcPr marL="64008" marR="64008" marT="18288" marB="18288" anchor="ctr">
                    <a:solidFill>
                      <a:srgbClr val="1F3A5F"/>
                    </a:solidFill>
                  </a:tcPr>
                </a:tc>
                <a:tc>
                  <a:txBody>
                    <a:bodyPr/>
                    <a:lstStyle/>
                    <a:p>
                      <a:r>
                        <a:rPr sz="1150" b="1">
                          <a:solidFill>
                            <a:srgbClr val="FFFFFF"/>
                          </a:solidFill>
                          <a:latin typeface="Calibri"/>
                        </a:rPr>
                        <a:t>CU</a:t>
                      </a:r>
                    </a:p>
                  </a:txBody>
                  <a:tcPr marL="64008" marR="64008" marT="18288" marB="18288" anchor="ctr">
                    <a:solidFill>
                      <a:srgbClr val="1F3A5F"/>
                    </a:solidFill>
                  </a:tcPr>
                </a:tc>
                <a:tc>
                  <a:txBody>
                    <a:bodyPr/>
                    <a:lstStyle/>
                    <a:p>
                      <a:r>
                        <a:rPr sz="1150" b="1">
                          <a:solidFill>
                            <a:srgbClr val="FFFFFF"/>
                          </a:solidFill>
                          <a:latin typeface="Calibri"/>
                        </a:rPr>
                        <a:t>Componente</a:t>
                      </a:r>
                    </a:p>
                  </a:txBody>
                  <a:tcPr marL="64008" marR="64008" marT="18288" marB="18288" anchor="ctr">
                    <a:solidFill>
                      <a:srgbClr val="1F3A5F"/>
                    </a:solidFill>
                  </a:tcPr>
                </a:tc>
              </a:tr>
              <a:tr h="301752">
                <a:tc>
                  <a:txBody>
                    <a:bodyPr/>
                    <a:lstStyle/>
                    <a:p>
                      <a:r>
                        <a:rPr sz="1150">
                          <a:solidFill>
                            <a:srgbClr val="1F2937"/>
                          </a:solidFill>
                          <a:latin typeface="Calibri"/>
                        </a:rPr>
                        <a:t>Reducir el tiempo de toma de pedidos</a:t>
                      </a:r>
                    </a:p>
                  </a:txBody>
                  <a:tcPr marL="64008" marR="64008" marT="18288" marB="18288" anchor="ctr">
                    <a:solidFill>
                      <a:srgbClr val="FFFFFF"/>
                    </a:solidFill>
                  </a:tcPr>
                </a:tc>
                <a:tc>
                  <a:txBody>
                    <a:bodyPr/>
                    <a:lstStyle/>
                    <a:p>
                      <a:r>
                        <a:rPr sz="1150">
                          <a:solidFill>
                            <a:srgbClr val="1F2937"/>
                          </a:solidFill>
                          <a:latin typeface="Calibri"/>
                        </a:rPr>
                        <a:t>RF-02</a:t>
                      </a:r>
                    </a:p>
                  </a:txBody>
                  <a:tcPr marL="64008" marR="64008" marT="18288" marB="18288" anchor="ctr">
                    <a:solidFill>
                      <a:srgbClr val="FFFFFF"/>
                    </a:solidFill>
                  </a:tcPr>
                </a:tc>
                <a:tc>
                  <a:txBody>
                    <a:bodyPr/>
                    <a:lstStyle/>
                    <a:p>
                      <a:r>
                        <a:rPr sz="1150">
                          <a:solidFill>
                            <a:srgbClr val="1F2937"/>
                          </a:solidFill>
                          <a:latin typeface="Calibri"/>
                        </a:rPr>
                        <a:t>CU-01</a:t>
                      </a:r>
                    </a:p>
                  </a:txBody>
                  <a:tcPr marL="64008" marR="64008" marT="18288" marB="18288" anchor="ctr">
                    <a:solidFill>
                      <a:srgbClr val="FFFFFF"/>
                    </a:solidFill>
                  </a:tcPr>
                </a:tc>
                <a:tc>
                  <a:txBody>
                    <a:bodyPr/>
                    <a:lstStyle/>
                    <a:p>
                      <a:r>
                        <a:rPr sz="1150">
                          <a:solidFill>
                            <a:srgbClr val="1F2937"/>
                          </a:solidFill>
                          <a:latin typeface="Calibri"/>
                        </a:rPr>
                        <a:t>Módulo de Pedidos</a:t>
                      </a:r>
                    </a:p>
                  </a:txBody>
                  <a:tcPr marL="64008" marR="64008" marT="18288" marB="18288" anchor="ctr">
                    <a:solidFill>
                      <a:srgbClr val="FFFFFF"/>
                    </a:solidFill>
                  </a:tcPr>
                </a:tc>
              </a:tr>
              <a:tr h="301752">
                <a:tc>
                  <a:txBody>
                    <a:bodyPr/>
                    <a:lstStyle/>
                    <a:p>
                      <a:r>
                        <a:rPr sz="1150">
                          <a:solidFill>
                            <a:srgbClr val="1F2937"/>
                          </a:solidFill>
                          <a:latin typeface="Calibri"/>
                        </a:rPr>
                        <a:t>Atender pedidos por canal web</a:t>
                      </a:r>
                    </a:p>
                  </a:txBody>
                  <a:tcPr marL="64008" marR="64008" marT="18288" marB="18288" anchor="ctr">
                    <a:solidFill>
                      <a:srgbClr val="F4F6F8"/>
                    </a:solidFill>
                  </a:tcPr>
                </a:tc>
                <a:tc>
                  <a:txBody>
                    <a:bodyPr/>
                    <a:lstStyle/>
                    <a:p>
                      <a:r>
                        <a:rPr sz="1150">
                          <a:solidFill>
                            <a:srgbClr val="1F2937"/>
                          </a:solidFill>
                          <a:latin typeface="Calibri"/>
                        </a:rPr>
                        <a:t>RF-03</a:t>
                      </a:r>
                    </a:p>
                  </a:txBody>
                  <a:tcPr marL="64008" marR="64008" marT="18288" marB="18288" anchor="ctr">
                    <a:solidFill>
                      <a:srgbClr val="F4F6F8"/>
                    </a:solidFill>
                  </a:tcPr>
                </a:tc>
                <a:tc>
                  <a:txBody>
                    <a:bodyPr/>
                    <a:lstStyle/>
                    <a:p>
                      <a:r>
                        <a:rPr sz="1150">
                          <a:solidFill>
                            <a:srgbClr val="1F2937"/>
                          </a:solidFill>
                          <a:latin typeface="Calibri"/>
                        </a:rPr>
                        <a:t>CU-02</a:t>
                      </a:r>
                    </a:p>
                  </a:txBody>
                  <a:tcPr marL="64008" marR="64008" marT="18288" marB="18288" anchor="ctr">
                    <a:solidFill>
                      <a:srgbClr val="F4F6F8"/>
                    </a:solidFill>
                  </a:tcPr>
                </a:tc>
                <a:tc>
                  <a:txBody>
                    <a:bodyPr/>
                    <a:lstStyle/>
                    <a:p>
                      <a:r>
                        <a:rPr sz="1150">
                          <a:solidFill>
                            <a:srgbClr val="1F2937"/>
                          </a:solidFill>
                          <a:latin typeface="Calibri"/>
                        </a:rPr>
                        <a:t>Tienda virtual</a:t>
                      </a:r>
                    </a:p>
                  </a:txBody>
                  <a:tcPr marL="64008" marR="64008" marT="18288" marB="18288" anchor="ctr">
                    <a:solidFill>
                      <a:srgbClr val="F4F6F8"/>
                    </a:solidFill>
                  </a:tcPr>
                </a:tc>
              </a:tr>
              <a:tr h="301752">
                <a:tc>
                  <a:txBody>
                    <a:bodyPr/>
                    <a:lstStyle/>
                    <a:p>
                      <a:r>
                        <a:rPr sz="1150">
                          <a:solidFill>
                            <a:srgbClr val="1F2937"/>
                          </a:solidFill>
                          <a:latin typeface="Calibri"/>
                        </a:rPr>
                        <a:t>Asegurar el cobro de los pedidos</a:t>
                      </a:r>
                    </a:p>
                  </a:txBody>
                  <a:tcPr marL="64008" marR="64008" marT="18288" marB="18288" anchor="ctr">
                    <a:solidFill>
                      <a:srgbClr val="FFFFFF"/>
                    </a:solidFill>
                  </a:tcPr>
                </a:tc>
                <a:tc>
                  <a:txBody>
                    <a:bodyPr/>
                    <a:lstStyle/>
                    <a:p>
                      <a:r>
                        <a:rPr sz="1150">
                          <a:solidFill>
                            <a:srgbClr val="1F2937"/>
                          </a:solidFill>
                          <a:latin typeface="Calibri"/>
                        </a:rPr>
                        <a:t>RF-05, RF-08</a:t>
                      </a:r>
                    </a:p>
                  </a:txBody>
                  <a:tcPr marL="64008" marR="64008" marT="18288" marB="18288" anchor="ctr">
                    <a:solidFill>
                      <a:srgbClr val="FFFFFF"/>
                    </a:solidFill>
                  </a:tcPr>
                </a:tc>
                <a:tc>
                  <a:txBody>
                    <a:bodyPr/>
                    <a:lstStyle/>
                    <a:p>
                      <a:r>
                        <a:rPr sz="1150">
                          <a:solidFill>
                            <a:srgbClr val="1F2937"/>
                          </a:solidFill>
                          <a:latin typeface="Calibri"/>
                        </a:rPr>
                        <a:t>CU-03</a:t>
                      </a:r>
                    </a:p>
                  </a:txBody>
                  <a:tcPr marL="64008" marR="64008" marT="18288" marB="18288" anchor="ctr">
                    <a:solidFill>
                      <a:srgbClr val="FFFFFF"/>
                    </a:solidFill>
                  </a:tcPr>
                </a:tc>
                <a:tc>
                  <a:txBody>
                    <a:bodyPr/>
                    <a:lstStyle/>
                    <a:p>
                      <a:r>
                        <a:rPr sz="1150">
                          <a:solidFill>
                            <a:srgbClr val="1F2937"/>
                          </a:solidFill>
                          <a:latin typeface="Calibri"/>
                        </a:rPr>
                        <a:t>Módulo de Cobros</a:t>
                      </a:r>
                    </a:p>
                  </a:txBody>
                  <a:tcPr marL="64008" marR="64008" marT="18288" marB="18288" anchor="ctr">
                    <a:solidFill>
                      <a:srgbClr val="FFFFFF"/>
                    </a:solidFill>
                  </a:tcPr>
                </a:tc>
              </a:tr>
              <a:tr h="301752">
                <a:tc>
                  <a:txBody>
                    <a:bodyPr/>
                    <a:lstStyle/>
                    <a:p>
                      <a:r>
                        <a:rPr sz="1150">
                          <a:solidFill>
                            <a:srgbClr val="1F2937"/>
                          </a:solidFill>
                          <a:latin typeface="Calibri"/>
                        </a:rPr>
                        <a:t>Controlar la entrega a domicilio</a:t>
                      </a:r>
                    </a:p>
                  </a:txBody>
                  <a:tcPr marL="64008" marR="64008" marT="18288" marB="18288" anchor="ctr">
                    <a:solidFill>
                      <a:srgbClr val="F4F6F8"/>
                    </a:solidFill>
                  </a:tcPr>
                </a:tc>
                <a:tc>
                  <a:txBody>
                    <a:bodyPr/>
                    <a:lstStyle/>
                    <a:p>
                      <a:r>
                        <a:rPr sz="1150">
                          <a:solidFill>
                            <a:srgbClr val="1F2937"/>
                          </a:solidFill>
                          <a:latin typeface="Calibri"/>
                        </a:rPr>
                        <a:t>RF-06</a:t>
                      </a:r>
                    </a:p>
                  </a:txBody>
                  <a:tcPr marL="64008" marR="64008" marT="18288" marB="18288" anchor="ctr">
                    <a:solidFill>
                      <a:srgbClr val="F4F6F8"/>
                    </a:solidFill>
                  </a:tcPr>
                </a:tc>
                <a:tc>
                  <a:txBody>
                    <a:bodyPr/>
                    <a:lstStyle/>
                    <a:p>
                      <a:r>
                        <a:rPr sz="1150">
                          <a:solidFill>
                            <a:srgbClr val="1F2937"/>
                          </a:solidFill>
                          <a:latin typeface="Calibri"/>
                        </a:rPr>
                        <a:t>CU-02</a:t>
                      </a:r>
                    </a:p>
                  </a:txBody>
                  <a:tcPr marL="64008" marR="64008" marT="18288" marB="18288" anchor="ctr">
                    <a:solidFill>
                      <a:srgbClr val="F4F6F8"/>
                    </a:solidFill>
                  </a:tcPr>
                </a:tc>
                <a:tc>
                  <a:txBody>
                    <a:bodyPr/>
                    <a:lstStyle/>
                    <a:p>
                      <a:r>
                        <a:rPr sz="1150">
                          <a:solidFill>
                            <a:srgbClr val="1F2937"/>
                          </a:solidFill>
                          <a:latin typeface="Calibri"/>
                        </a:rPr>
                        <a:t>Módulo de Delivery</a:t>
                      </a:r>
                    </a:p>
                  </a:txBody>
                  <a:tcPr marL="64008" marR="64008" marT="18288" marB="18288" anchor="ctr">
                    <a:solidFill>
                      <a:srgbClr val="F4F6F8"/>
                    </a:solidFill>
                  </a:tcPr>
                </a:tc>
              </a:tr>
              <a:tr h="301752">
                <a:tc>
                  <a:txBody>
                    <a:bodyPr/>
                    <a:lstStyle/>
                    <a:p>
                      <a:r>
                        <a:rPr sz="1150">
                          <a:solidFill>
                            <a:srgbClr val="1F2937"/>
                          </a:solidFill>
                          <a:latin typeface="Calibri"/>
                        </a:rPr>
                        <a:t>Mantener la carta actualizada</a:t>
                      </a:r>
                    </a:p>
                  </a:txBody>
                  <a:tcPr marL="64008" marR="64008" marT="18288" marB="18288" anchor="ctr">
                    <a:solidFill>
                      <a:srgbClr val="FFFFFF"/>
                    </a:solidFill>
                  </a:tcPr>
                </a:tc>
                <a:tc>
                  <a:txBody>
                    <a:bodyPr/>
                    <a:lstStyle/>
                    <a:p>
                      <a:r>
                        <a:rPr sz="1150">
                          <a:solidFill>
                            <a:srgbClr val="1F2937"/>
                          </a:solidFill>
                          <a:latin typeface="Calibri"/>
                        </a:rPr>
                        <a:t>RF-01</a:t>
                      </a:r>
                    </a:p>
                  </a:txBody>
                  <a:tcPr marL="64008" marR="64008" marT="18288" marB="18288" anchor="ctr">
                    <a:solidFill>
                      <a:srgbClr val="FFFFFF"/>
                    </a:solidFill>
                  </a:tcPr>
                </a:tc>
                <a:tc>
                  <a:txBody>
                    <a:bodyPr/>
                    <a:lstStyle/>
                    <a:p>
                      <a:r>
                        <a:rPr sz="1150">
                          <a:solidFill>
                            <a:srgbClr val="1F2937"/>
                          </a:solidFill>
                          <a:latin typeface="Calibri"/>
                        </a:rPr>
                        <a:t>CU-01</a:t>
                      </a:r>
                    </a:p>
                  </a:txBody>
                  <a:tcPr marL="64008" marR="64008" marT="18288" marB="18288" anchor="ctr">
                    <a:solidFill>
                      <a:srgbClr val="FFFFFF"/>
                    </a:solidFill>
                  </a:tcPr>
                </a:tc>
                <a:tc>
                  <a:txBody>
                    <a:bodyPr/>
                    <a:lstStyle/>
                    <a:p>
                      <a:r>
                        <a:rPr sz="1150">
                          <a:solidFill>
                            <a:srgbClr val="1F2937"/>
                          </a:solidFill>
                          <a:latin typeface="Calibri"/>
                        </a:rPr>
                        <a:t>Módulo de Carta</a:t>
                      </a:r>
                    </a:p>
                  </a:txBody>
                  <a:tcPr marL="64008" marR="64008" marT="18288" marB="18288" anchor="ctr">
                    <a:solidFill>
                      <a:srgbClr val="FFFFFF"/>
                    </a:solidFill>
                  </a:tcPr>
                </a:tc>
              </a:tr>
            </a:tbl>
          </a:graphicData>
        </a:graphic>
      </p:graphicFrame>
      <p:sp>
        <p:nvSpPr>
          <p:cNvPr id="13" name="TextBox 12"/>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14" name="TextBox 13"/>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3. REQUERIMIENTOS DE SOFTWARE</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Tres casos de uso del sistema, especificados con todas sus partes</a:t>
            </a:r>
          </a:p>
        </p:txBody>
      </p:sp>
      <p:sp>
        <p:nvSpPr>
          <p:cNvPr id="5" name="Rounded Rectangle 4"/>
          <p:cNvSpPr/>
          <p:nvPr/>
        </p:nvSpPr>
        <p:spPr>
          <a:xfrm>
            <a:off x="658368" y="1371600"/>
            <a:ext cx="3429000" cy="4160520"/>
          </a:xfrm>
          <a:prstGeom prst="roundRect">
            <a:avLst>
              <a:gd name="adj" fmla="val 5000"/>
            </a:avLst>
          </a:prstGeom>
          <a:solidFill>
            <a:srgbClr val="F4F6F8"/>
          </a:solidFill>
          <a:ln w="1397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371600"/>
            <a:ext cx="3429000" cy="822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517904"/>
            <a:ext cx="3063240" cy="384048"/>
          </a:xfrm>
          <a:prstGeom prst="rect">
            <a:avLst/>
          </a:prstGeom>
          <a:noFill/>
        </p:spPr>
        <p:txBody>
          <a:bodyPr wrap="square" anchor="t" lIns="0" rIns="0" tIns="0" bIns="0">
            <a:spAutoFit/>
          </a:bodyPr>
          <a:lstStyle/>
          <a:p>
            <a:pPr algn="l">
              <a:spcAft>
                <a:spcPts val="600"/>
              </a:spcAft>
            </a:pPr>
            <a:r>
              <a:rPr sz="1700" b="1" i="0">
                <a:solidFill>
                  <a:srgbClr val="1F3A5F"/>
                </a:solidFill>
                <a:latin typeface="Calibri"/>
              </a:rPr>
              <a:t>CU-01</a:t>
            </a:r>
          </a:p>
        </p:txBody>
      </p:sp>
      <p:sp>
        <p:nvSpPr>
          <p:cNvPr id="8" name="TextBox 7"/>
          <p:cNvSpPr txBox="1"/>
          <p:nvPr/>
        </p:nvSpPr>
        <p:spPr>
          <a:xfrm>
            <a:off x="841247" y="1883664"/>
            <a:ext cx="3063240" cy="603504"/>
          </a:xfrm>
          <a:prstGeom prst="rect">
            <a:avLst/>
          </a:prstGeom>
          <a:noFill/>
        </p:spPr>
        <p:txBody>
          <a:bodyPr wrap="square" anchor="t" lIns="0" rIns="0" tIns="0" bIns="0">
            <a:spAutoFit/>
          </a:bodyPr>
          <a:lstStyle/>
          <a:p>
            <a:pPr algn="l">
              <a:spcAft>
                <a:spcPts val="600"/>
              </a:spcAft>
            </a:pPr>
            <a:r>
              <a:rPr sz="1350" b="1" i="0">
                <a:solidFill>
                  <a:srgbClr val="1F3A5F"/>
                </a:solidFill>
                <a:latin typeface="Calibri"/>
              </a:rPr>
              <a:t>Registrar pedido en el local</a:t>
            </a:r>
          </a:p>
        </p:txBody>
      </p:sp>
      <p:sp>
        <p:nvSpPr>
          <p:cNvPr id="9" name="TextBox 8"/>
          <p:cNvSpPr txBox="1"/>
          <p:nvPr/>
        </p:nvSpPr>
        <p:spPr>
          <a:xfrm>
            <a:off x="841247" y="2542032"/>
            <a:ext cx="3063240" cy="274320"/>
          </a:xfrm>
          <a:prstGeom prst="rect">
            <a:avLst/>
          </a:prstGeom>
          <a:noFill/>
        </p:spPr>
        <p:txBody>
          <a:bodyPr wrap="square" anchor="t" lIns="0" rIns="0" tIns="0" bIns="0">
            <a:spAutoFit/>
          </a:bodyPr>
          <a:lstStyle/>
          <a:p>
            <a:pPr algn="l">
              <a:spcAft>
                <a:spcPts val="600"/>
              </a:spcAft>
            </a:pPr>
            <a:r>
              <a:rPr sz="1150" b="0" i="1">
                <a:solidFill>
                  <a:srgbClr val="6B7280"/>
                </a:solidFill>
                <a:latin typeface="Calibri"/>
              </a:rPr>
              <a:t>Actor principal: Mozo</a:t>
            </a:r>
          </a:p>
        </p:txBody>
      </p:sp>
      <p:sp>
        <p:nvSpPr>
          <p:cNvPr id="10" name="TextBox 9"/>
          <p:cNvSpPr txBox="1"/>
          <p:nvPr/>
        </p:nvSpPr>
        <p:spPr>
          <a:xfrm>
            <a:off x="841247" y="2926080"/>
            <a:ext cx="3063240" cy="2468880"/>
          </a:xfrm>
          <a:prstGeom prst="rect">
            <a:avLst/>
          </a:prstGeom>
          <a:noFill/>
        </p:spPr>
        <p:txBody>
          <a:bodyPr wrap="square" lIns="0" rIns="0" tIns="0" bIns="0">
            <a:spAutoFit/>
          </a:bodyPr>
          <a:lstStyle/>
          <a:p>
            <a:pPr>
              <a:lnSpc>
                <a:spcPct val="112000"/>
              </a:lnSpc>
              <a:spcAft>
                <a:spcPts val="800"/>
              </a:spcAft>
            </a:pPr>
            <a:r>
              <a:rPr sz="1050">
                <a:solidFill>
                  <a:srgbClr val="1F2937"/>
                </a:solidFill>
                <a:latin typeface="Calibri"/>
              </a:rPr>
              <a:t>·  Precondición: el mozo inició sesión y la mesa está libre</a:t>
            </a:r>
          </a:p>
          <a:p>
            <a:pPr>
              <a:lnSpc>
                <a:spcPct val="112000"/>
              </a:lnSpc>
              <a:spcAft>
                <a:spcPts val="800"/>
              </a:spcAft>
            </a:pPr>
            <a:r>
              <a:rPr sz="1050">
                <a:solidFill>
                  <a:srgbClr val="1F2937"/>
                </a:solidFill>
                <a:latin typeface="Calibri"/>
              </a:rPr>
              <a:t>·  6 pasos en el flujo principal</a:t>
            </a:r>
          </a:p>
          <a:p>
            <a:pPr>
              <a:lnSpc>
                <a:spcPct val="112000"/>
              </a:lnSpc>
              <a:spcAft>
                <a:spcPts val="800"/>
              </a:spcAft>
            </a:pPr>
            <a:r>
              <a:rPr sz="1050">
                <a:solidFill>
                  <a:srgbClr val="1F2937"/>
                </a:solidFill>
                <a:latin typeface="Calibri"/>
              </a:rPr>
              <a:t>·  Alternativas: plato sin stock; el cliente agrega más platos</a:t>
            </a:r>
          </a:p>
          <a:p>
            <a:pPr>
              <a:lnSpc>
                <a:spcPct val="112000"/>
              </a:lnSpc>
              <a:spcAft>
                <a:spcPts val="800"/>
              </a:spcAft>
            </a:pPr>
            <a:r>
              <a:rPr sz="1050">
                <a:solidFill>
                  <a:srgbClr val="1F2937"/>
                </a:solidFill>
                <a:latin typeface="Calibri"/>
              </a:rPr>
              <a:t>·  Postcondición: pedido registrado y mesa «ocupada»</a:t>
            </a:r>
          </a:p>
        </p:txBody>
      </p:sp>
      <p:sp>
        <p:nvSpPr>
          <p:cNvPr id="11" name="Rounded Rectangle 10"/>
          <p:cNvSpPr/>
          <p:nvPr/>
        </p:nvSpPr>
        <p:spPr>
          <a:xfrm>
            <a:off x="4343400" y="1371600"/>
            <a:ext cx="3429000" cy="4160520"/>
          </a:xfrm>
          <a:prstGeom prst="roundRect">
            <a:avLst>
              <a:gd name="adj" fmla="val 5000"/>
            </a:avLst>
          </a:prstGeom>
          <a:solidFill>
            <a:srgbClr val="F4F6F8"/>
          </a:solidFill>
          <a:ln w="13970">
            <a:solidFill>
              <a:srgbClr val="D98E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371600"/>
            <a:ext cx="3429000" cy="82296"/>
          </a:xfrm>
          <a:prstGeom prst="rect">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1517904"/>
            <a:ext cx="3063240" cy="384048"/>
          </a:xfrm>
          <a:prstGeom prst="rect">
            <a:avLst/>
          </a:prstGeom>
          <a:noFill/>
        </p:spPr>
        <p:txBody>
          <a:bodyPr wrap="square" anchor="t" lIns="0" rIns="0" tIns="0" bIns="0">
            <a:spAutoFit/>
          </a:bodyPr>
          <a:lstStyle/>
          <a:p>
            <a:pPr algn="l">
              <a:spcAft>
                <a:spcPts val="600"/>
              </a:spcAft>
            </a:pPr>
            <a:r>
              <a:rPr sz="1700" b="1" i="0">
                <a:solidFill>
                  <a:srgbClr val="D98E32"/>
                </a:solidFill>
                <a:latin typeface="Calibri"/>
              </a:rPr>
              <a:t>CU-02</a:t>
            </a:r>
          </a:p>
        </p:txBody>
      </p:sp>
      <p:sp>
        <p:nvSpPr>
          <p:cNvPr id="14" name="TextBox 13"/>
          <p:cNvSpPr txBox="1"/>
          <p:nvPr/>
        </p:nvSpPr>
        <p:spPr>
          <a:xfrm>
            <a:off x="4526280" y="1883664"/>
            <a:ext cx="3063240" cy="603504"/>
          </a:xfrm>
          <a:prstGeom prst="rect">
            <a:avLst/>
          </a:prstGeom>
          <a:noFill/>
        </p:spPr>
        <p:txBody>
          <a:bodyPr wrap="square" anchor="t" lIns="0" rIns="0" tIns="0" bIns="0">
            <a:spAutoFit/>
          </a:bodyPr>
          <a:lstStyle/>
          <a:p>
            <a:pPr algn="l">
              <a:spcAft>
                <a:spcPts val="600"/>
              </a:spcAft>
            </a:pPr>
            <a:r>
              <a:rPr sz="1350" b="1" i="0">
                <a:solidFill>
                  <a:srgbClr val="1F3A5F"/>
                </a:solidFill>
                <a:latin typeface="Calibri"/>
              </a:rPr>
              <a:t>Realizar pedido en línea con delivery</a:t>
            </a:r>
          </a:p>
        </p:txBody>
      </p:sp>
      <p:sp>
        <p:nvSpPr>
          <p:cNvPr id="15" name="TextBox 14"/>
          <p:cNvSpPr txBox="1"/>
          <p:nvPr/>
        </p:nvSpPr>
        <p:spPr>
          <a:xfrm>
            <a:off x="4526280" y="2542032"/>
            <a:ext cx="3063240" cy="274320"/>
          </a:xfrm>
          <a:prstGeom prst="rect">
            <a:avLst/>
          </a:prstGeom>
          <a:noFill/>
        </p:spPr>
        <p:txBody>
          <a:bodyPr wrap="square" anchor="t" lIns="0" rIns="0" tIns="0" bIns="0">
            <a:spAutoFit/>
          </a:bodyPr>
          <a:lstStyle/>
          <a:p>
            <a:pPr algn="l">
              <a:spcAft>
                <a:spcPts val="600"/>
              </a:spcAft>
            </a:pPr>
            <a:r>
              <a:rPr sz="1150" b="0" i="1">
                <a:solidFill>
                  <a:srgbClr val="6B7280"/>
                </a:solidFill>
                <a:latin typeface="Calibri"/>
              </a:rPr>
              <a:t>Actor principal: Cliente</a:t>
            </a:r>
          </a:p>
        </p:txBody>
      </p:sp>
      <p:sp>
        <p:nvSpPr>
          <p:cNvPr id="16" name="TextBox 15"/>
          <p:cNvSpPr txBox="1"/>
          <p:nvPr/>
        </p:nvSpPr>
        <p:spPr>
          <a:xfrm>
            <a:off x="4526280" y="2926080"/>
            <a:ext cx="3063240" cy="2468880"/>
          </a:xfrm>
          <a:prstGeom prst="rect">
            <a:avLst/>
          </a:prstGeom>
          <a:noFill/>
        </p:spPr>
        <p:txBody>
          <a:bodyPr wrap="square" lIns="0" rIns="0" tIns="0" bIns="0">
            <a:spAutoFit/>
          </a:bodyPr>
          <a:lstStyle/>
          <a:p>
            <a:pPr>
              <a:lnSpc>
                <a:spcPct val="112000"/>
              </a:lnSpc>
              <a:spcAft>
                <a:spcPts val="800"/>
              </a:spcAft>
            </a:pPr>
            <a:r>
              <a:rPr sz="1050">
                <a:solidFill>
                  <a:srgbClr val="1F2937"/>
                </a:solidFill>
                <a:latin typeface="Calibri"/>
              </a:rPr>
              <a:t>·  Precondición: acceso a la tienda y dirección válida</a:t>
            </a:r>
          </a:p>
          <a:p>
            <a:pPr>
              <a:lnSpc>
                <a:spcPct val="112000"/>
              </a:lnSpc>
              <a:spcAft>
                <a:spcPts val="800"/>
              </a:spcAft>
            </a:pPr>
            <a:r>
              <a:rPr sz="1050">
                <a:solidFill>
                  <a:srgbClr val="1F2937"/>
                </a:solidFill>
                <a:latin typeface="Calibri"/>
              </a:rPr>
              <a:t>·  7 pasos en el flujo principal</a:t>
            </a:r>
          </a:p>
          <a:p>
            <a:pPr>
              <a:lnSpc>
                <a:spcPct val="112000"/>
              </a:lnSpc>
              <a:spcAft>
                <a:spcPts val="800"/>
              </a:spcAft>
            </a:pPr>
            <a:r>
              <a:rPr sz="1050">
                <a:solidFill>
                  <a:srgbClr val="1F2937"/>
                </a:solidFill>
                <a:latin typeface="Calibri"/>
              </a:rPr>
              <a:t>·  Alternativas: sin stock; pago rechazado</a:t>
            </a:r>
          </a:p>
          <a:p>
            <a:pPr>
              <a:lnSpc>
                <a:spcPct val="112000"/>
              </a:lnSpc>
              <a:spcAft>
                <a:spcPts val="800"/>
              </a:spcAft>
            </a:pPr>
            <a:r>
              <a:rPr sz="1050">
                <a:solidFill>
                  <a:srgbClr val="1F2937"/>
                </a:solidFill>
                <a:latin typeface="Calibri"/>
              </a:rPr>
              <a:t>·  Postcondición: pedido pagado y repartidor asignado</a:t>
            </a:r>
          </a:p>
        </p:txBody>
      </p:sp>
      <p:sp>
        <p:nvSpPr>
          <p:cNvPr id="17" name="Rounded Rectangle 16"/>
          <p:cNvSpPr/>
          <p:nvPr/>
        </p:nvSpPr>
        <p:spPr>
          <a:xfrm>
            <a:off x="8028432" y="1371600"/>
            <a:ext cx="3429000" cy="4160520"/>
          </a:xfrm>
          <a:prstGeom prst="roundRect">
            <a:avLst>
              <a:gd name="adj" fmla="val 5000"/>
            </a:avLst>
          </a:prstGeom>
          <a:solidFill>
            <a:srgbClr val="F4F6F8"/>
          </a:solidFill>
          <a:ln w="13970">
            <a:solidFill>
              <a:srgbClr val="3F7D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2" y="1371600"/>
            <a:ext cx="3429000" cy="82296"/>
          </a:xfrm>
          <a:prstGeom prst="rect">
            <a:avLst/>
          </a:prstGeom>
          <a:solidFill>
            <a:srgbClr val="3F7D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2" y="1517904"/>
            <a:ext cx="3063240" cy="384048"/>
          </a:xfrm>
          <a:prstGeom prst="rect">
            <a:avLst/>
          </a:prstGeom>
          <a:noFill/>
        </p:spPr>
        <p:txBody>
          <a:bodyPr wrap="square" anchor="t" lIns="0" rIns="0" tIns="0" bIns="0">
            <a:spAutoFit/>
          </a:bodyPr>
          <a:lstStyle/>
          <a:p>
            <a:pPr algn="l">
              <a:spcAft>
                <a:spcPts val="600"/>
              </a:spcAft>
            </a:pPr>
            <a:r>
              <a:rPr sz="1700" b="1" i="0">
                <a:solidFill>
                  <a:srgbClr val="3F7D5A"/>
                </a:solidFill>
                <a:latin typeface="Calibri"/>
              </a:rPr>
              <a:t>CU-03</a:t>
            </a:r>
          </a:p>
        </p:txBody>
      </p:sp>
      <p:sp>
        <p:nvSpPr>
          <p:cNvPr id="20" name="TextBox 19"/>
          <p:cNvSpPr txBox="1"/>
          <p:nvPr/>
        </p:nvSpPr>
        <p:spPr>
          <a:xfrm>
            <a:off x="8211312" y="1883664"/>
            <a:ext cx="3063240" cy="603504"/>
          </a:xfrm>
          <a:prstGeom prst="rect">
            <a:avLst/>
          </a:prstGeom>
          <a:noFill/>
        </p:spPr>
        <p:txBody>
          <a:bodyPr wrap="square" anchor="t" lIns="0" rIns="0" tIns="0" bIns="0">
            <a:spAutoFit/>
          </a:bodyPr>
          <a:lstStyle/>
          <a:p>
            <a:pPr algn="l">
              <a:spcAft>
                <a:spcPts val="600"/>
              </a:spcAft>
            </a:pPr>
            <a:r>
              <a:rPr sz="1350" b="1" i="0">
                <a:solidFill>
                  <a:srgbClr val="1F3A5F"/>
                </a:solidFill>
                <a:latin typeface="Calibri"/>
              </a:rPr>
              <a:t>Procesar pago y emitir comprobante</a:t>
            </a:r>
          </a:p>
        </p:txBody>
      </p:sp>
      <p:sp>
        <p:nvSpPr>
          <p:cNvPr id="21" name="TextBox 20"/>
          <p:cNvSpPr txBox="1"/>
          <p:nvPr/>
        </p:nvSpPr>
        <p:spPr>
          <a:xfrm>
            <a:off x="8211312" y="2542032"/>
            <a:ext cx="3063240" cy="274320"/>
          </a:xfrm>
          <a:prstGeom prst="rect">
            <a:avLst/>
          </a:prstGeom>
          <a:noFill/>
        </p:spPr>
        <p:txBody>
          <a:bodyPr wrap="square" anchor="t" lIns="0" rIns="0" tIns="0" bIns="0">
            <a:spAutoFit/>
          </a:bodyPr>
          <a:lstStyle/>
          <a:p>
            <a:pPr algn="l">
              <a:spcAft>
                <a:spcPts val="600"/>
              </a:spcAft>
            </a:pPr>
            <a:r>
              <a:rPr sz="1150" b="0" i="1">
                <a:solidFill>
                  <a:srgbClr val="6B7280"/>
                </a:solidFill>
                <a:latin typeface="Calibri"/>
              </a:rPr>
              <a:t>Actor principal: Cajero</a:t>
            </a:r>
          </a:p>
        </p:txBody>
      </p:sp>
      <p:sp>
        <p:nvSpPr>
          <p:cNvPr id="22" name="TextBox 21"/>
          <p:cNvSpPr txBox="1"/>
          <p:nvPr/>
        </p:nvSpPr>
        <p:spPr>
          <a:xfrm>
            <a:off x="8211312" y="2926080"/>
            <a:ext cx="3063240" cy="2468880"/>
          </a:xfrm>
          <a:prstGeom prst="rect">
            <a:avLst/>
          </a:prstGeom>
          <a:noFill/>
        </p:spPr>
        <p:txBody>
          <a:bodyPr wrap="square" lIns="0" rIns="0" tIns="0" bIns="0">
            <a:spAutoFit/>
          </a:bodyPr>
          <a:lstStyle/>
          <a:p>
            <a:pPr>
              <a:lnSpc>
                <a:spcPct val="112000"/>
              </a:lnSpc>
              <a:spcAft>
                <a:spcPts val="800"/>
              </a:spcAft>
            </a:pPr>
            <a:r>
              <a:rPr sz="1050">
                <a:solidFill>
                  <a:srgbClr val="1F2937"/>
                </a:solidFill>
                <a:latin typeface="Calibri"/>
              </a:rPr>
              <a:t>·  Precondición: el cajero inició sesión y el pedido está «listo»</a:t>
            </a:r>
          </a:p>
          <a:p>
            <a:pPr>
              <a:lnSpc>
                <a:spcPct val="112000"/>
              </a:lnSpc>
              <a:spcAft>
                <a:spcPts val="800"/>
              </a:spcAft>
            </a:pPr>
            <a:r>
              <a:rPr sz="1050">
                <a:solidFill>
                  <a:srgbClr val="1F2937"/>
                </a:solidFill>
                <a:latin typeface="Calibri"/>
              </a:rPr>
              <a:t>·  6 pasos en el flujo principal</a:t>
            </a:r>
          </a:p>
          <a:p>
            <a:pPr>
              <a:lnSpc>
                <a:spcPct val="112000"/>
              </a:lnSpc>
              <a:spcAft>
                <a:spcPts val="800"/>
              </a:spcAft>
            </a:pPr>
            <a:r>
              <a:rPr sz="1050">
                <a:solidFill>
                  <a:srgbClr val="1F2937"/>
                </a:solidFill>
                <a:latin typeface="Calibri"/>
              </a:rPr>
              <a:t>·  Alternativas: tarjeta rechazada; venta sin comprobante</a:t>
            </a:r>
          </a:p>
          <a:p>
            <a:pPr>
              <a:lnSpc>
                <a:spcPct val="112000"/>
              </a:lnSpc>
              <a:spcAft>
                <a:spcPts val="800"/>
              </a:spcAft>
            </a:pPr>
            <a:r>
              <a:rPr sz="1050">
                <a:solidFill>
                  <a:srgbClr val="1F2937"/>
                </a:solidFill>
                <a:latin typeface="Calibri"/>
              </a:rPr>
              <a:t>·  Postcondición: pago registrado y pedido «cerrado»</a:t>
            </a:r>
          </a:p>
        </p:txBody>
      </p:sp>
      <p:sp>
        <p:nvSpPr>
          <p:cNvPr id="23" name="TextBox 22"/>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24" name="TextBox 23"/>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475488"/>
            <a:ext cx="155448" cy="384048"/>
          </a:xfrm>
          <a:prstGeom prst="roundRect">
            <a:avLst>
              <a:gd name="adj" fmla="val 28000"/>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457200"/>
            <a:ext cx="8229600" cy="256032"/>
          </a:xfrm>
          <a:prstGeom prst="rect">
            <a:avLst/>
          </a:prstGeom>
          <a:noFill/>
        </p:spPr>
        <p:txBody>
          <a:bodyPr wrap="square" anchor="t" lIns="0" rIns="0" tIns="0" bIns="0">
            <a:spAutoFit/>
          </a:bodyPr>
          <a:lstStyle/>
          <a:p>
            <a:pPr algn="l">
              <a:spcAft>
                <a:spcPts val="600"/>
              </a:spcAft>
            </a:pPr>
            <a:r>
              <a:rPr sz="1150" b="1" i="0">
                <a:solidFill>
                  <a:srgbClr val="D98E32"/>
                </a:solidFill>
                <a:latin typeface="Calibri"/>
              </a:rPr>
              <a:t>4. CONCLUSIONES</a:t>
            </a:r>
          </a:p>
        </p:txBody>
      </p:sp>
      <p:sp>
        <p:nvSpPr>
          <p:cNvPr id="4" name="TextBox 3"/>
          <p:cNvSpPr txBox="1"/>
          <p:nvPr/>
        </p:nvSpPr>
        <p:spPr>
          <a:xfrm>
            <a:off x="896112" y="713232"/>
            <a:ext cx="10515600" cy="566928"/>
          </a:xfrm>
          <a:prstGeom prst="rect">
            <a:avLst/>
          </a:prstGeom>
          <a:noFill/>
        </p:spPr>
        <p:txBody>
          <a:bodyPr wrap="square" anchor="ctr" lIns="0" rIns="0" tIns="0" bIns="0">
            <a:spAutoFit/>
          </a:bodyPr>
          <a:lstStyle/>
          <a:p>
            <a:pPr algn="l">
              <a:spcAft>
                <a:spcPts val="600"/>
              </a:spcAft>
            </a:pPr>
            <a:r>
              <a:rPr sz="2300" b="1" i="0">
                <a:solidFill>
                  <a:srgbClr val="1F3A5F"/>
                </a:solidFill>
                <a:latin typeface="Calibri"/>
              </a:rPr>
              <a:t>El negocio quedó modelado y listo para la arquitectura empresarial</a:t>
            </a:r>
          </a:p>
        </p:txBody>
      </p:sp>
      <p:sp>
        <p:nvSpPr>
          <p:cNvPr id="5" name="TextBox 4"/>
          <p:cNvSpPr txBox="1"/>
          <p:nvPr/>
        </p:nvSpPr>
        <p:spPr>
          <a:xfrm>
            <a:off x="749808" y="1435607"/>
            <a:ext cx="10515600" cy="4480560"/>
          </a:xfrm>
          <a:prstGeom prst="rect">
            <a:avLst/>
          </a:prstGeom>
          <a:noFill/>
        </p:spPr>
        <p:txBody>
          <a:bodyPr wrap="square" lIns="0" rIns="0" tIns="0" bIns="0">
            <a:spAutoFit/>
          </a:bodyPr>
          <a:lstStyle/>
          <a:p>
            <a:pPr>
              <a:lnSpc>
                <a:spcPct val="112000"/>
              </a:lnSpc>
              <a:spcAft>
                <a:spcPts val="1200"/>
              </a:spcAft>
            </a:pPr>
            <a:r>
              <a:rPr sz="1600">
                <a:solidFill>
                  <a:srgbClr val="1F2937"/>
                </a:solidFill>
                <a:latin typeface="Calibri"/>
              </a:rPr>
              <a:t>▪  Se modeló el negocio de Fogón Andino S.A.C.: 7 actores, 6 casos de uso del negocio y 9 conceptos en el modelo de dominio</a:t>
            </a:r>
          </a:p>
          <a:p>
            <a:pPr>
              <a:lnSpc>
                <a:spcPct val="112000"/>
              </a:lnSpc>
              <a:spcAft>
                <a:spcPts val="1200"/>
              </a:spcAft>
            </a:pPr>
            <a:r>
              <a:rPr sz="1600">
                <a:solidFill>
                  <a:srgbClr val="1F2937"/>
                </a:solidFill>
                <a:latin typeface="Calibri"/>
              </a:rPr>
              <a:t>▪  Dos diagramas de actividades con particiones cubren los procesos críticos</a:t>
            </a:r>
          </a:p>
          <a:p>
            <a:pPr>
              <a:lnSpc>
                <a:spcPct val="112000"/>
              </a:lnSpc>
              <a:spcAft>
                <a:spcPts val="1200"/>
              </a:spcAft>
            </a:pPr>
            <a:r>
              <a:rPr sz="1600">
                <a:solidFill>
                  <a:srgbClr val="1F2937"/>
                </a:solidFill>
                <a:latin typeface="Calibri"/>
              </a:rPr>
              <a:t>▪  La SRS incluye el diagrama de contexto, 10 requerimientos funcionales, 6 no funcionales y 3 casos de uso especificados</a:t>
            </a:r>
          </a:p>
          <a:p>
            <a:pPr>
              <a:lnSpc>
                <a:spcPct val="112000"/>
              </a:lnSpc>
              <a:spcAft>
                <a:spcPts val="1200"/>
              </a:spcAft>
            </a:pPr>
            <a:r>
              <a:rPr sz="1600">
                <a:solidFill>
                  <a:srgbClr val="1F2937"/>
                </a:solidFill>
                <a:latin typeface="Calibri"/>
              </a:rPr>
              <a:t>▪  El equipo se ubica en nivel 2 (REQM) de CMMI con prácticas iniciales del nivel 3</a:t>
            </a:r>
          </a:p>
          <a:p>
            <a:pPr>
              <a:lnSpc>
                <a:spcPct val="112000"/>
              </a:lnSpc>
              <a:spcAft>
                <a:spcPts val="1200"/>
              </a:spcAft>
            </a:pPr>
            <a:r>
              <a:rPr sz="1600">
                <a:solidFill>
                  <a:srgbClr val="1F2937"/>
                </a:solidFill>
                <a:latin typeface="Calibri"/>
              </a:rPr>
              <a:t>▪  Los artefactos corresponden a la categoría de arquitectura de negocio, base de las arquitecturas de datos, aplicaciones y tecnológica</a:t>
            </a:r>
          </a:p>
          <a:p>
            <a:pPr>
              <a:lnSpc>
                <a:spcPct val="112000"/>
              </a:lnSpc>
              <a:spcAft>
                <a:spcPts val="1200"/>
              </a:spcAft>
            </a:pPr>
            <a:r>
              <a:rPr sz="1400">
                <a:solidFill>
                  <a:srgbClr val="6B7280"/>
                </a:solidFill>
                <a:latin typeface="Calibri"/>
              </a:rPr>
              <a:t>        –  Siguiente paso: aplicar TOGAF en la Unidad 2 sobre estos requerimientos</a:t>
            </a:r>
          </a:p>
        </p:txBody>
      </p:sp>
      <p:sp>
        <p:nvSpPr>
          <p:cNvPr id="6" name="TextBox 5"/>
          <p:cNvSpPr txBox="1"/>
          <p:nvPr/>
        </p:nvSpPr>
        <p:spPr>
          <a:xfrm>
            <a:off x="566928" y="6428232"/>
            <a:ext cx="9144000" cy="256032"/>
          </a:xfrm>
          <a:prstGeom prst="rect">
            <a:avLst/>
          </a:prstGeom>
          <a:noFill/>
        </p:spPr>
        <p:txBody>
          <a:bodyPr wrap="square" anchor="t" lIns="0" rIns="0" tIns="0" bIns="0">
            <a:spAutoFit/>
          </a:bodyPr>
          <a:lstStyle/>
          <a:p>
            <a:pPr algn="l">
              <a:spcAft>
                <a:spcPts val="600"/>
              </a:spcAft>
            </a:pPr>
            <a:r>
              <a:rPr sz="950" b="0" i="0">
                <a:solidFill>
                  <a:srgbClr val="6B7280"/>
                </a:solidFill>
                <a:latin typeface="Calibri"/>
              </a:rPr>
              <a:t>Fogón Andino S.A.C.  ·  Avance 1  ·  Diseño e Implementación de Arquitectura Empresarial</a:t>
            </a:r>
          </a:p>
        </p:txBody>
      </p:sp>
      <p:sp>
        <p:nvSpPr>
          <p:cNvPr id="7" name="TextBox 6"/>
          <p:cNvSpPr txBox="1"/>
          <p:nvPr/>
        </p:nvSpPr>
        <p:spPr>
          <a:xfrm>
            <a:off x="10710367" y="6428232"/>
            <a:ext cx="914400" cy="256032"/>
          </a:xfrm>
          <a:prstGeom prst="rect">
            <a:avLst/>
          </a:prstGeom>
          <a:noFill/>
        </p:spPr>
        <p:txBody>
          <a:bodyPr wrap="square" anchor="t" lIns="0" rIns="0" tIns="0" bIns="0">
            <a:spAutoFit/>
          </a:bodyPr>
          <a:lstStyle/>
          <a:p>
            <a:pPr algn="r">
              <a:spcAft>
                <a:spcPts val="600"/>
              </a:spcAft>
            </a:pPr>
            <a:r>
              <a:rPr sz="1050" b="1" i="0">
                <a:solidFill>
                  <a:srgbClr val="4A6FA5"/>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83680"/>
            <a:ext cx="12191695" cy="274320"/>
          </a:xfrm>
          <a:prstGeom prst="rect">
            <a:avLst/>
          </a:prstGeom>
          <a:solidFill>
            <a:srgbClr val="D98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2331720"/>
            <a:ext cx="10515600" cy="914400"/>
          </a:xfrm>
          <a:prstGeom prst="rect">
            <a:avLst/>
          </a:prstGeom>
          <a:noFill/>
        </p:spPr>
        <p:txBody>
          <a:bodyPr wrap="square" anchor="t" lIns="0" rIns="0" tIns="0" bIns="0">
            <a:spAutoFit/>
          </a:bodyPr>
          <a:lstStyle/>
          <a:p>
            <a:pPr algn="ctr">
              <a:spcAft>
                <a:spcPts val="600"/>
              </a:spcAft>
            </a:pPr>
            <a:r>
              <a:rPr sz="4400" b="1" i="0">
                <a:solidFill>
                  <a:srgbClr val="FFFFFF"/>
                </a:solidFill>
                <a:latin typeface="Calibri"/>
              </a:rPr>
              <a:t>Gracias</a:t>
            </a:r>
          </a:p>
        </p:txBody>
      </p:sp>
      <p:sp>
        <p:nvSpPr>
          <p:cNvPr id="5" name="TextBox 4"/>
          <p:cNvSpPr txBox="1"/>
          <p:nvPr/>
        </p:nvSpPr>
        <p:spPr>
          <a:xfrm>
            <a:off x="749808" y="3337560"/>
            <a:ext cx="10515600" cy="502920"/>
          </a:xfrm>
          <a:prstGeom prst="rect">
            <a:avLst/>
          </a:prstGeom>
          <a:noFill/>
        </p:spPr>
        <p:txBody>
          <a:bodyPr wrap="square" anchor="t" lIns="0" rIns="0" tIns="0" bIns="0">
            <a:spAutoFit/>
          </a:bodyPr>
          <a:lstStyle/>
          <a:p>
            <a:pPr algn="ctr">
              <a:spcAft>
                <a:spcPts val="600"/>
              </a:spcAft>
            </a:pPr>
            <a:r>
              <a:rPr sz="2100" b="0" i="0">
                <a:solidFill>
                  <a:srgbClr val="D98E32"/>
                </a:solidFill>
                <a:latin typeface="Calibri"/>
              </a:rPr>
              <a:t>¿Preguntas?</a:t>
            </a:r>
          </a:p>
        </p:txBody>
      </p:sp>
      <p:sp>
        <p:nvSpPr>
          <p:cNvPr id="6" name="TextBox 5"/>
          <p:cNvSpPr txBox="1"/>
          <p:nvPr/>
        </p:nvSpPr>
        <p:spPr>
          <a:xfrm>
            <a:off x="749808" y="4160520"/>
            <a:ext cx="10515600" cy="365760"/>
          </a:xfrm>
          <a:prstGeom prst="rect">
            <a:avLst/>
          </a:prstGeom>
          <a:noFill/>
        </p:spPr>
        <p:txBody>
          <a:bodyPr wrap="square" anchor="t" lIns="0" rIns="0" tIns="0" bIns="0">
            <a:spAutoFit/>
          </a:bodyPr>
          <a:lstStyle/>
          <a:p>
            <a:pPr algn="ctr">
              <a:spcAft>
                <a:spcPts val="600"/>
              </a:spcAft>
            </a:pPr>
            <a:r>
              <a:rPr sz="1250" b="0" i="0">
                <a:solidFill>
                  <a:srgbClr val="C8D6EE"/>
                </a:solidFill>
                <a:latin typeface="Calibri"/>
              </a:rPr>
              <a:t>Fogón Andino S.A.C.  ·  Avance 1  ·  Diseño e Implementación de Arquitectura Empresarial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